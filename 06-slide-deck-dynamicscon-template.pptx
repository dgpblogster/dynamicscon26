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2338FD6E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77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B1B1F0F-ACED-7B65-FCF9-DDA56FDF9E77}" name="Brianna Sierra" initials="BS" userId="S::brianna@dynamicsusergroup.com::d7a06c09-ac69-423d-9f7d-3be874f58a8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8325"/>
    <a:srgbClr val="57B535"/>
    <a:srgbClr val="B86010"/>
    <a:srgbClr val="E97A15"/>
    <a:srgbClr val="F1A966"/>
    <a:srgbClr val="D2A000"/>
    <a:srgbClr val="9C3C9A"/>
    <a:srgbClr val="F9ED4E"/>
    <a:srgbClr val="3B4598"/>
    <a:srgbClr val="42AB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C7D534-3326-E942-9B67-F8332A22EE70}" v="1" dt="2025-04-16T17:30:13.3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omments/modernComment_100_2338FD6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DEE0F74-0EB0-4B82-B2A0-DC2E2FA56EBC}" authorId="{7B1B1F0F-ACED-7B65-FCF9-DDA56FDF9E77}" created="2025-04-09T13:09:44.051">
    <pc:sldMkLst xmlns:pc="http://schemas.microsoft.com/office/powerpoint/2013/main/command">
      <pc:docMk/>
      <pc:sldMk cId="590937454" sldId="256"/>
    </pc:sldMkLst>
    <p188:txBody>
      <a:bodyPr/>
      <a:lstStyle/>
      <a:p>
        <a:r>
          <a:rPr lang="en-US"/>
          <a:t>Please click "File"- "Create A Copy" or download before you start adding your slides!! If you accidentally get info in this template, please email Jess or I and we can fix it.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6402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Title slide. Open warm and conversational. Welcome the audience. Frame the session as practitioner work, not a tutorial. We will write code, query a database, run live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Agenda slide. Brisk: 30 seconds max. Five beats, demos taking the largest chunk. Set expectations: practitioner session, not a tutorial.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takeaways: architecture, decision framework, live build. Emphasize: most multi-agent projects should not happen yet. Practitioner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Maria represents every Inside Sales Manager in the room. Three things, three systems, 20 minutes per decision. Sometimes finance kills the order the next morning.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architecture most teams build first. Eight times out of ten in testing, fails in front of CFO.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conductor moment. Pause for emphasis. Three pillars: specialists, coordinator, shared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brisk. 30 seconds. Key distinction: orchestration vs choreography.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both, build the left one. Hub-and-spoke is easier to reason about and debug.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Copilot Studio capabilities. Generative orchestration is the newer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YES signals. Need at least two of three before it's worth the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Honest slide. Cost of multi-agent is real: config, failure modes, latency, debugging.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the scene. The question looks like one. It is actually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1 intro. 30 seconds tops. Do not promise a specific failure mode. Variance is the point and the wrap slide reveals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1 cue slide. Stays up during the live demo as a backstop. If response is slow, return here and reread the watch-for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1 wrap. The slide that reframes what just happened. Whichever run the audience saw is one of these three. Variance is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2 intro. Honest acknowledgment of missing capability is the underrated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2 cue slide. Stays up during the Order Conductor run in Teams. Honest admission about missing Inventory is the most underrated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Framework for architects. Hub-and-spoke wins when question shape is 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3 is the payoff. Chat is satisfying, curtain pull is for the technical half.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3 cue slide. After synthesized answer in Teams, pull the curtain: VS Code, SSMS, then back to deck for three-layers wrap.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the audience remembers one slide, it should be this one. Three layers, each one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Reusable patterns. Smart Tools Simple Agents is the most underrated.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Brief tangent, 5 min max. This architecture is not Microsoft-specific.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Practical realities. Cost matters most: 3-5x more expensive per run than single-agent.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Slow down. Closing argument. Pause after each line. The conductor metaphor closes the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Concrete actions. Step 02 is most important: split along the failure line, not the org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 and A. Leave this slide up. Common questions: cost (3-5x), latency (8s abandon), convincing leadership (build single-agent prototype first), MCP vs Power Platform connectors.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microsoft.com/office/2007/relationships/hdphoto" Target="../media/hdphoto3.wdp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yellow background with buildings and mountains&#10;&#10;AI-generated content may be incorrect.">
            <a:extLst>
              <a:ext uri="{FF2B5EF4-FFF2-40B4-BE49-F238E27FC236}">
                <a16:creationId xmlns:a16="http://schemas.microsoft.com/office/drawing/2014/main" id="{5791F817-DE24-C513-9505-16F0DF25B0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83353" y="-1"/>
            <a:ext cx="12816729" cy="7209411"/>
          </a:xfrm>
          <a:prstGeom prst="rect">
            <a:avLst/>
          </a:prstGeom>
        </p:spPr>
      </p:pic>
      <p:pic>
        <p:nvPicPr>
          <p:cNvPr id="12" name="Picture 11" descr="A colorful logo with palm trees vegas sign 2026 dynamicscon&#10;&#10;">
            <a:extLst>
              <a:ext uri="{FF2B5EF4-FFF2-40B4-BE49-F238E27FC236}">
                <a16:creationId xmlns:a16="http://schemas.microsoft.com/office/drawing/2014/main" id="{1D4CBD7A-A21A-30B2-FEBD-60C7C62663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38092" y="222099"/>
            <a:ext cx="6115816" cy="6413802"/>
          </a:xfrm>
          <a:prstGeom prst="rect">
            <a:avLst/>
          </a:prstGeom>
        </p:spPr>
      </p:pic>
      <p:pic>
        <p:nvPicPr>
          <p:cNvPr id="20" name="Picture 19" descr="Superheroes flying">
            <a:extLst>
              <a:ext uri="{FF2B5EF4-FFF2-40B4-BE49-F238E27FC236}">
                <a16:creationId xmlns:a16="http://schemas.microsoft.com/office/drawing/2014/main" id="{99C2C897-1FB4-E6B4-3CDB-D749884F57F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duotone>
              <a:prstClr val="black"/>
              <a:schemeClr val="accent6">
                <a:tint val="45000"/>
                <a:satMod val="400000"/>
              </a:schemeClr>
            </a:duotone>
            <a:alphaModFix amt="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425599" y="3087709"/>
            <a:ext cx="4433677" cy="342105"/>
          </a:xfrm>
          <a:prstGeom prst="rect">
            <a:avLst/>
          </a:prstGeom>
        </p:spPr>
      </p:pic>
      <p:pic>
        <p:nvPicPr>
          <p:cNvPr id="23" name="Picture 22" descr="Superheroes flying">
            <a:extLst>
              <a:ext uri="{FF2B5EF4-FFF2-40B4-BE49-F238E27FC236}">
                <a16:creationId xmlns:a16="http://schemas.microsoft.com/office/drawing/2014/main" id="{5EA44781-F0DD-0E3A-FB1E-989B1BCED04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9426109" y="2219310"/>
            <a:ext cx="6659140" cy="513823"/>
          </a:xfrm>
          <a:prstGeom prst="rect">
            <a:avLst/>
          </a:prstGeom>
        </p:spPr>
      </p:pic>
      <p:pic>
        <p:nvPicPr>
          <p:cNvPr id="24" name="Picture 23" descr="Superheroes flying">
            <a:extLst>
              <a:ext uri="{FF2B5EF4-FFF2-40B4-BE49-F238E27FC236}">
                <a16:creationId xmlns:a16="http://schemas.microsoft.com/office/drawing/2014/main" id="{63696A81-F128-E0D3-FC66-B53F001BC75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duotone>
              <a:prstClr val="black"/>
              <a:schemeClr val="accent6">
                <a:tint val="45000"/>
                <a:satMod val="400000"/>
              </a:schemeClr>
            </a:duotone>
            <a:alphaModFix amt="35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805597" y="1607870"/>
            <a:ext cx="3339512" cy="257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943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99C2C897-1FB4-E6B4-3CDB-D749884F57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prstClr val="black"/>
              <a:schemeClr val="accent6">
                <a:tint val="45000"/>
                <a:satMod val="400000"/>
              </a:schemeClr>
            </a:duotone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539100" y="3665022"/>
            <a:ext cx="3305799" cy="255077"/>
          </a:xfrm>
          <a:prstGeom prst="rect">
            <a:avLst/>
          </a:prstGeom>
        </p:spPr>
      </p:pic>
      <p:pic>
        <p:nvPicPr>
          <p:cNvPr id="3" name="Picture 2" descr="A green cityscape with a pyramid and a ferris wheel&#10;&#10;AI-generated content may be incorrect.">
            <a:extLst>
              <a:ext uri="{FF2B5EF4-FFF2-40B4-BE49-F238E27FC236}">
                <a16:creationId xmlns:a16="http://schemas.microsoft.com/office/drawing/2014/main" id="{299EBF0E-9093-4188-8D1D-361CF7DDC36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58090" y="-255401"/>
            <a:ext cx="12605944" cy="7113401"/>
          </a:xfrm>
          <a:prstGeom prst="rect">
            <a:avLst/>
          </a:prstGeom>
        </p:spPr>
      </p:pic>
      <p:pic>
        <p:nvPicPr>
          <p:cNvPr id="23" name="Picture 22" descr="Superheroes flying">
            <a:extLst>
              <a:ext uri="{FF2B5EF4-FFF2-40B4-BE49-F238E27FC236}">
                <a16:creationId xmlns:a16="http://schemas.microsoft.com/office/drawing/2014/main" id="{5EA44781-F0DD-0E3A-FB1E-989B1BCED04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6144882" y="470209"/>
            <a:ext cx="6659140" cy="513823"/>
          </a:xfrm>
          <a:prstGeom prst="rect">
            <a:avLst/>
          </a:prstGeom>
        </p:spPr>
      </p:pic>
      <p:pic>
        <p:nvPicPr>
          <p:cNvPr id="24" name="Picture 23" descr="Superheroes flying">
            <a:extLst>
              <a:ext uri="{FF2B5EF4-FFF2-40B4-BE49-F238E27FC236}">
                <a16:creationId xmlns:a16="http://schemas.microsoft.com/office/drawing/2014/main" id="{63696A81-F128-E0D3-FC66-B53F001BC75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duotone>
              <a:prstClr val="black"/>
              <a:schemeClr val="accent6">
                <a:tint val="45000"/>
                <a:satMod val="400000"/>
              </a:schemeClr>
            </a:duotone>
            <a:alphaModFix amt="8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37130" y="1979249"/>
            <a:ext cx="5487977" cy="423456"/>
          </a:xfrm>
          <a:prstGeom prst="rect">
            <a:avLst/>
          </a:prstGeom>
        </p:spPr>
      </p:pic>
      <p:pic>
        <p:nvPicPr>
          <p:cNvPr id="6" name="Picture 5" descr="A yellow text on a black background&#10;&#10;AI-generated content may be incorrect.">
            <a:extLst>
              <a:ext uri="{FF2B5EF4-FFF2-40B4-BE49-F238E27FC236}">
                <a16:creationId xmlns:a16="http://schemas.microsoft.com/office/drawing/2014/main" id="{9B720A31-FBA7-31EA-7477-92F57D91B24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9427" y="1279081"/>
            <a:ext cx="7553145" cy="404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560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Sun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green and yellow background&#10;&#10;AI-generated content may be incorrect.">
            <a:extLst>
              <a:ext uri="{FF2B5EF4-FFF2-40B4-BE49-F238E27FC236}">
                <a16:creationId xmlns:a16="http://schemas.microsoft.com/office/drawing/2014/main" id="{75FE815F-AECD-F330-5CD2-A5FB468FF8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E71C5E5-187D-326F-82C9-8E0D0CEE09B2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30">
            <a:extLst>
              <a:ext uri="{FF2B5EF4-FFF2-40B4-BE49-F238E27FC236}">
                <a16:creationId xmlns:a16="http://schemas.microsoft.com/office/drawing/2014/main" id="{34E64832-2A5E-1A03-F2D8-77A19644A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024023"/>
            <a:ext cx="10515600" cy="1325563"/>
          </a:xfrm>
        </p:spPr>
        <p:txBody>
          <a:bodyPr>
            <a:noAutofit/>
          </a:bodyPr>
          <a:lstStyle>
            <a:lvl1pPr algn="ctr">
              <a:defRPr sz="7200" b="1" i="0">
                <a:solidFill>
                  <a:schemeClr val="accent6">
                    <a:lumMod val="75000"/>
                  </a:schemeClr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18C36EB-5529-72B2-87F7-9801C49E140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08415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 i="0">
                <a:solidFill>
                  <a:srgbClr val="D2A000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25" name="Picture 24" descr="A bright light in the dark&#10;&#10;AI-generated content may be incorrect.">
            <a:extLst>
              <a:ext uri="{FF2B5EF4-FFF2-40B4-BE49-F238E27FC236}">
                <a16:creationId xmlns:a16="http://schemas.microsoft.com/office/drawing/2014/main" id="{38895DEA-6F7F-DFD5-3CC4-EF7B72CBB2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504020">
            <a:off x="10674513" y="4210539"/>
            <a:ext cx="2613910" cy="4220047"/>
          </a:xfrm>
          <a:prstGeom prst="rect">
            <a:avLst/>
          </a:prstGeom>
        </p:spPr>
      </p:pic>
      <p:pic>
        <p:nvPicPr>
          <p:cNvPr id="27" name="Picture 26" descr="Vegas skyline">
            <a:extLst>
              <a:ext uri="{FF2B5EF4-FFF2-40B4-BE49-F238E27FC236}">
                <a16:creationId xmlns:a16="http://schemas.microsoft.com/office/drawing/2014/main" id="{CF4FBE4B-864D-50F6-308F-D2FBABA7628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76177"/>
            <a:ext cx="12192000" cy="701675"/>
          </a:xfrm>
          <a:prstGeom prst="rect">
            <a:avLst/>
          </a:prstGeom>
        </p:spPr>
      </p:pic>
      <p:pic>
        <p:nvPicPr>
          <p:cNvPr id="26" name="Picture 25" descr="A logo with palm trees&#10;&#10;AI-generated content may be incorrect.">
            <a:extLst>
              <a:ext uri="{FF2B5EF4-FFF2-40B4-BE49-F238E27FC236}">
                <a16:creationId xmlns:a16="http://schemas.microsoft.com/office/drawing/2014/main" id="{C48AF256-4321-6F48-9561-9901CD0AABB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5190" y="5526108"/>
            <a:ext cx="1584519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586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Sun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849F99D-6480-91B0-099C-0C87A608C289}"/>
              </a:ext>
            </a:extLst>
          </p:cNvPr>
          <p:cNvSpPr/>
          <p:nvPr userDrawn="1"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3B4598"/>
              </a:gs>
              <a:gs pos="50000">
                <a:srgbClr val="9C3C9A"/>
              </a:gs>
              <a:gs pos="0">
                <a:srgbClr val="ED3F7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een and yellow background&#10;&#10;AI-generated content may be incorrect.">
            <a:extLst>
              <a:ext uri="{FF2B5EF4-FFF2-40B4-BE49-F238E27FC236}">
                <a16:creationId xmlns:a16="http://schemas.microsoft.com/office/drawing/2014/main" id="{436F15BF-8D1A-BFDF-6527-544B6391BA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D67A401-534F-83F4-D0F0-DF35AB8A0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315" y="1357460"/>
            <a:ext cx="11381889" cy="4402317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6740080-3552-E965-5C4B-6B5AF93B8A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rgbClr val="57B535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Picture 6" descr="A bright light in the dark&#10;&#10;AI-generated content may be incorrect.">
            <a:extLst>
              <a:ext uri="{FF2B5EF4-FFF2-40B4-BE49-F238E27FC236}">
                <a16:creationId xmlns:a16="http://schemas.microsoft.com/office/drawing/2014/main" id="{6877C281-9DA1-0419-CE07-EA0DD688565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504020">
            <a:off x="10674513" y="4210539"/>
            <a:ext cx="2613910" cy="4220047"/>
          </a:xfrm>
          <a:prstGeom prst="rect">
            <a:avLst/>
          </a:prstGeom>
        </p:spPr>
      </p:pic>
      <p:pic>
        <p:nvPicPr>
          <p:cNvPr id="13" name="Picture 12" descr="Vegas skyline">
            <a:extLst>
              <a:ext uri="{FF2B5EF4-FFF2-40B4-BE49-F238E27FC236}">
                <a16:creationId xmlns:a16="http://schemas.microsoft.com/office/drawing/2014/main" id="{E805CEFF-D779-52EF-40AF-3D991161101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76177"/>
            <a:ext cx="12192000" cy="701675"/>
          </a:xfrm>
          <a:prstGeom prst="rect">
            <a:avLst/>
          </a:prstGeom>
        </p:spPr>
      </p:pic>
      <p:pic>
        <p:nvPicPr>
          <p:cNvPr id="8" name="Picture 7" descr="A logo with palm trees&#10;&#10;AI-generated content may be incorrect.">
            <a:extLst>
              <a:ext uri="{FF2B5EF4-FFF2-40B4-BE49-F238E27FC236}">
                <a16:creationId xmlns:a16="http://schemas.microsoft.com/office/drawing/2014/main" id="{6143A5F3-9CF5-85CA-86E0-84E6FFBE10E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5190" y="5526108"/>
            <a:ext cx="1584519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011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Sun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een and yellow background&#10;&#10;AI-generated content may be incorrect.">
            <a:extLst>
              <a:ext uri="{FF2B5EF4-FFF2-40B4-BE49-F238E27FC236}">
                <a16:creationId xmlns:a16="http://schemas.microsoft.com/office/drawing/2014/main" id="{218A8A8B-2E34-0BAE-BA66-0330EF9924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A bright light in the dark&#10;&#10;AI-generated content may be incorrect.">
            <a:extLst>
              <a:ext uri="{FF2B5EF4-FFF2-40B4-BE49-F238E27FC236}">
                <a16:creationId xmlns:a16="http://schemas.microsoft.com/office/drawing/2014/main" id="{3E5594DF-9208-4697-904A-8DA68C1D61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504020">
            <a:off x="10674513" y="4210539"/>
            <a:ext cx="2613910" cy="42200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540DAC-A0CE-6FDC-80E4-DA65DC0E9D7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76177"/>
            <a:ext cx="12192000" cy="70167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7D6ECEB-EEAA-5121-61A6-4A2F068805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rgbClr val="57B535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52C302F-939E-5E71-CBFC-43FD0274D1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4316" y="1349603"/>
            <a:ext cx="5625484" cy="4421496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3E95EFA-C277-0DB3-1F35-091DEE00B28A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50721" y="1347708"/>
            <a:ext cx="5625484" cy="4421496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 descr="A logo with palm trees&#10;&#10;AI-generated content may be incorrect.">
            <a:extLst>
              <a:ext uri="{FF2B5EF4-FFF2-40B4-BE49-F238E27FC236}">
                <a16:creationId xmlns:a16="http://schemas.microsoft.com/office/drawing/2014/main" id="{4B760C8F-3988-6D05-73A7-2591B9D8B4A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5190" y="5526108"/>
            <a:ext cx="1584519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358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s, and Text Sun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and yellow background&#10;&#10;AI-generated content may be incorrect.">
            <a:extLst>
              <a:ext uri="{FF2B5EF4-FFF2-40B4-BE49-F238E27FC236}">
                <a16:creationId xmlns:a16="http://schemas.microsoft.com/office/drawing/2014/main" id="{6A5BCF0E-CF52-5E47-5849-A01320976A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ABDAF7-7D88-44D0-BC27-CB75499A2B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rgbClr val="57B535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044C0-65DE-877D-FE31-0C379C882ED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94316" y="3963177"/>
            <a:ext cx="11381889" cy="1796600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3B1E3C-48F2-9EDD-568B-3257F7F03F2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51106" y="1347708"/>
            <a:ext cx="5628821" cy="2518929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AE59C2F-82FD-FF57-D52C-2AEC5B9B7A47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06507" y="1347708"/>
            <a:ext cx="5628821" cy="2518929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pic>
        <p:nvPicPr>
          <p:cNvPr id="8" name="Picture 7" descr="A bright light in the dark&#10;&#10;AI-generated content may be incorrect.">
            <a:extLst>
              <a:ext uri="{FF2B5EF4-FFF2-40B4-BE49-F238E27FC236}">
                <a16:creationId xmlns:a16="http://schemas.microsoft.com/office/drawing/2014/main" id="{5AA757DE-5AB6-4A41-B12B-529D7B24E6C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504020">
            <a:off x="10674513" y="4210539"/>
            <a:ext cx="2613910" cy="4220047"/>
          </a:xfrm>
          <a:prstGeom prst="rect">
            <a:avLst/>
          </a:prstGeom>
        </p:spPr>
      </p:pic>
      <p:pic>
        <p:nvPicPr>
          <p:cNvPr id="7" name="Picture 6" descr="Vegas skyline">
            <a:extLst>
              <a:ext uri="{FF2B5EF4-FFF2-40B4-BE49-F238E27FC236}">
                <a16:creationId xmlns:a16="http://schemas.microsoft.com/office/drawing/2014/main" id="{161DF3F9-3E1F-5D76-F43E-DDB0D306DFC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76177"/>
            <a:ext cx="12192000" cy="701675"/>
          </a:xfrm>
          <a:prstGeom prst="rect">
            <a:avLst/>
          </a:prstGeom>
        </p:spPr>
      </p:pic>
      <p:pic>
        <p:nvPicPr>
          <p:cNvPr id="11" name="Picture 10" descr="A logo with palm trees&#10;&#10;AI-generated content may be incorrect.">
            <a:extLst>
              <a:ext uri="{FF2B5EF4-FFF2-40B4-BE49-F238E27FC236}">
                <a16:creationId xmlns:a16="http://schemas.microsoft.com/office/drawing/2014/main" id="{91BC0B89-74BB-0105-BC1E-CE2F6275C54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5190" y="5526108"/>
            <a:ext cx="1584519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185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Images Sun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and yellow background&#10;&#10;AI-generated content may be incorrect.">
            <a:extLst>
              <a:ext uri="{FF2B5EF4-FFF2-40B4-BE49-F238E27FC236}">
                <a16:creationId xmlns:a16="http://schemas.microsoft.com/office/drawing/2014/main" id="{7AA4E237-770A-492B-1415-EFF1278F96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D37107-7096-0614-CEF7-0D912343D1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rgbClr val="57B535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6992B-24BA-732D-725C-7E0BED47CBE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94316" y="1347708"/>
            <a:ext cx="11381889" cy="1759156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112EFE-81F5-14F1-1C1D-2681575C21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37983" y="3183603"/>
            <a:ext cx="5628821" cy="2595028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6A787EF-7FEA-D30D-A9B7-EEED79B9789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93384" y="3183603"/>
            <a:ext cx="5628821" cy="2595028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pic>
        <p:nvPicPr>
          <p:cNvPr id="8" name="Picture 7" descr="A bright light in the dark&#10;&#10;AI-generated content may be incorrect.">
            <a:extLst>
              <a:ext uri="{FF2B5EF4-FFF2-40B4-BE49-F238E27FC236}">
                <a16:creationId xmlns:a16="http://schemas.microsoft.com/office/drawing/2014/main" id="{8DF60BA7-558D-432D-0467-9660BCBDE9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504020">
            <a:off x="10674513" y="4210539"/>
            <a:ext cx="2613910" cy="4220047"/>
          </a:xfrm>
          <a:prstGeom prst="rect">
            <a:avLst/>
          </a:prstGeom>
        </p:spPr>
      </p:pic>
      <p:pic>
        <p:nvPicPr>
          <p:cNvPr id="7" name="Picture 6" descr="Vegas skyline">
            <a:extLst>
              <a:ext uri="{FF2B5EF4-FFF2-40B4-BE49-F238E27FC236}">
                <a16:creationId xmlns:a16="http://schemas.microsoft.com/office/drawing/2014/main" id="{9A182C74-9D1E-19A8-1DF5-62BD4E3C299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76177"/>
            <a:ext cx="12192000" cy="701675"/>
          </a:xfrm>
          <a:prstGeom prst="rect">
            <a:avLst/>
          </a:prstGeom>
        </p:spPr>
      </p:pic>
      <p:pic>
        <p:nvPicPr>
          <p:cNvPr id="11" name="Picture 10" descr="A logo with palm trees&#10;&#10;AI-generated content may be incorrect.">
            <a:extLst>
              <a:ext uri="{FF2B5EF4-FFF2-40B4-BE49-F238E27FC236}">
                <a16:creationId xmlns:a16="http://schemas.microsoft.com/office/drawing/2014/main" id="{5AEE0C3B-3EAE-86BE-619B-928BADDF1B5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5190" y="5526108"/>
            <a:ext cx="1584519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574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3 Images, and Text Sun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een and yellow background&#10;&#10;AI-generated content may be incorrect.">
            <a:extLst>
              <a:ext uri="{FF2B5EF4-FFF2-40B4-BE49-F238E27FC236}">
                <a16:creationId xmlns:a16="http://schemas.microsoft.com/office/drawing/2014/main" id="{B9563F78-DAD5-3622-B515-C7828D06CF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F9B1B-D84E-1657-0E32-A18DC98AC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rgbClr val="57B535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5BFDD-F131-538C-82BF-60AA8B957B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94316" y="3963176"/>
            <a:ext cx="11381889" cy="1806027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D7C7B0-5AB2-66CE-356D-80AB0118272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92451" y="1358222"/>
            <a:ext cx="3739363" cy="2518929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3DC631C-88B6-4BA4-B1AA-125C4ADE11AF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32426" y="1347708"/>
            <a:ext cx="3739363" cy="2518929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0019110-3022-F1D1-B092-9611490C83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212438" y="1356863"/>
            <a:ext cx="3739363" cy="2518929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pic>
        <p:nvPicPr>
          <p:cNvPr id="11" name="Picture 10" descr="A bright light in the dark&#10;&#10;AI-generated content may be incorrect.">
            <a:extLst>
              <a:ext uri="{FF2B5EF4-FFF2-40B4-BE49-F238E27FC236}">
                <a16:creationId xmlns:a16="http://schemas.microsoft.com/office/drawing/2014/main" id="{E24C1801-E99A-5D6B-9320-FAE9E9924D7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504020">
            <a:off x="10674513" y="4210539"/>
            <a:ext cx="2613910" cy="4220047"/>
          </a:xfrm>
          <a:prstGeom prst="rect">
            <a:avLst/>
          </a:prstGeom>
        </p:spPr>
      </p:pic>
      <p:pic>
        <p:nvPicPr>
          <p:cNvPr id="8" name="Picture 7" descr="Vegas skyline">
            <a:extLst>
              <a:ext uri="{FF2B5EF4-FFF2-40B4-BE49-F238E27FC236}">
                <a16:creationId xmlns:a16="http://schemas.microsoft.com/office/drawing/2014/main" id="{2180693F-2BA3-51BC-B3EB-AA16F192C0A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76177"/>
            <a:ext cx="12192000" cy="701675"/>
          </a:xfrm>
          <a:prstGeom prst="rect">
            <a:avLst/>
          </a:prstGeom>
        </p:spPr>
      </p:pic>
      <p:pic>
        <p:nvPicPr>
          <p:cNvPr id="13" name="Picture 12" descr="A logo with palm trees&#10;&#10;AI-generated content may be incorrect.">
            <a:extLst>
              <a:ext uri="{FF2B5EF4-FFF2-40B4-BE49-F238E27FC236}">
                <a16:creationId xmlns:a16="http://schemas.microsoft.com/office/drawing/2014/main" id="{9B9706B0-EF64-6A88-0998-D70400C5A95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5190" y="5526108"/>
            <a:ext cx="1584519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96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3 Images Sun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yellow background&#10;&#10;AI-generated content may be incorrect.">
            <a:extLst>
              <a:ext uri="{FF2B5EF4-FFF2-40B4-BE49-F238E27FC236}">
                <a16:creationId xmlns:a16="http://schemas.microsoft.com/office/drawing/2014/main" id="{24DC4BEB-CA49-CE15-0E07-D6BCD902C2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49AB42-CA9D-5E2C-ED3F-55D46A6AB0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rgbClr val="57B535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398D8-6201-A512-3F12-7ED26425DC7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94316" y="1347708"/>
            <a:ext cx="11381889" cy="1759156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532DE5C-A3E2-9779-9A27-45FFC0E8B66E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92451" y="3209036"/>
            <a:ext cx="3739363" cy="2561527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6622280-39E4-F04A-3004-6BEB8C8CF1A1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32426" y="3198522"/>
            <a:ext cx="3739363" cy="2561527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305A9A-0B32-C7E3-CE1A-0604730CC5A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212438" y="3207677"/>
            <a:ext cx="3739363" cy="2561527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pic>
        <p:nvPicPr>
          <p:cNvPr id="11" name="Picture 10" descr="A bright light in the dark&#10;&#10;AI-generated content may be incorrect.">
            <a:extLst>
              <a:ext uri="{FF2B5EF4-FFF2-40B4-BE49-F238E27FC236}">
                <a16:creationId xmlns:a16="http://schemas.microsoft.com/office/drawing/2014/main" id="{B23793E7-F6E8-9687-B745-520858415B6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504020">
            <a:off x="10674513" y="4210539"/>
            <a:ext cx="2613910" cy="4220047"/>
          </a:xfrm>
          <a:prstGeom prst="rect">
            <a:avLst/>
          </a:prstGeom>
        </p:spPr>
      </p:pic>
      <p:pic>
        <p:nvPicPr>
          <p:cNvPr id="8" name="Picture 7" descr="Vegas skyline">
            <a:extLst>
              <a:ext uri="{FF2B5EF4-FFF2-40B4-BE49-F238E27FC236}">
                <a16:creationId xmlns:a16="http://schemas.microsoft.com/office/drawing/2014/main" id="{31A33433-9F96-9AA9-7400-98EF934F506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76177"/>
            <a:ext cx="12192000" cy="701675"/>
          </a:xfrm>
          <a:prstGeom prst="rect">
            <a:avLst/>
          </a:prstGeom>
        </p:spPr>
      </p:pic>
      <p:pic>
        <p:nvPicPr>
          <p:cNvPr id="13" name="Picture 12" descr="A logo with palm trees&#10;&#10;AI-generated content may be incorrect.">
            <a:extLst>
              <a:ext uri="{FF2B5EF4-FFF2-40B4-BE49-F238E27FC236}">
                <a16:creationId xmlns:a16="http://schemas.microsoft.com/office/drawing/2014/main" id="{AA67BA0C-EEF5-17A9-216C-720DA4D834A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5190" y="5526108"/>
            <a:ext cx="1584519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043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4 Images Sun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and yellow background&#10;&#10;AI-generated content may be incorrect.">
            <a:extLst>
              <a:ext uri="{FF2B5EF4-FFF2-40B4-BE49-F238E27FC236}">
                <a16:creationId xmlns:a16="http://schemas.microsoft.com/office/drawing/2014/main" id="{B6628D9E-A253-0F8A-D086-157EA2BAE8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0958D4-94C7-5B2D-F38C-6DE49E0113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rgbClr val="57B535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BF2D8-7EFE-508F-4E6A-CD43C6C4D06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056199" y="1347708"/>
            <a:ext cx="6036643" cy="4421495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3F1AFD-3513-7DE6-31AF-11380D97A5C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394316" y="1347708"/>
            <a:ext cx="2570148" cy="2162873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DE99042-B944-D3E3-48CE-0BA44DD378ED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94316" y="3578624"/>
            <a:ext cx="2570148" cy="2162873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536DF96-D18C-05A4-89C3-BD28375FB943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9206057" y="1347708"/>
            <a:ext cx="2570148" cy="2162873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25803C7-0B27-D664-4217-93EA10297177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9206057" y="3578624"/>
            <a:ext cx="2570148" cy="2162873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pic>
        <p:nvPicPr>
          <p:cNvPr id="13" name="Picture 12" descr="A bright light in the dark&#10;&#10;AI-generated content may be incorrect.">
            <a:extLst>
              <a:ext uri="{FF2B5EF4-FFF2-40B4-BE49-F238E27FC236}">
                <a16:creationId xmlns:a16="http://schemas.microsoft.com/office/drawing/2014/main" id="{9A8320E8-1EC8-2CEB-F771-90D4C739061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504020">
            <a:off x="10674513" y="4210539"/>
            <a:ext cx="2613910" cy="4220047"/>
          </a:xfrm>
          <a:prstGeom prst="rect">
            <a:avLst/>
          </a:prstGeom>
        </p:spPr>
      </p:pic>
      <p:pic>
        <p:nvPicPr>
          <p:cNvPr id="11" name="Picture 10" descr="Vegas skyline">
            <a:extLst>
              <a:ext uri="{FF2B5EF4-FFF2-40B4-BE49-F238E27FC236}">
                <a16:creationId xmlns:a16="http://schemas.microsoft.com/office/drawing/2014/main" id="{35986DDD-E368-89C6-EF09-380F3C459D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76177"/>
            <a:ext cx="12192000" cy="701675"/>
          </a:xfrm>
          <a:prstGeom prst="rect">
            <a:avLst/>
          </a:prstGeom>
        </p:spPr>
      </p:pic>
      <p:pic>
        <p:nvPicPr>
          <p:cNvPr id="14" name="Picture 13" descr="A logo with palm trees&#10;&#10;AI-generated content may be incorrect.">
            <a:extLst>
              <a:ext uri="{FF2B5EF4-FFF2-40B4-BE49-F238E27FC236}">
                <a16:creationId xmlns:a16="http://schemas.microsoft.com/office/drawing/2014/main" id="{2C4BCF5D-6EA8-CD91-1ADE-6EC6E999977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5190" y="5526108"/>
            <a:ext cx="1584519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5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2 Text, and 2 Images Sun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een and yellow background&#10;&#10;AI-generated content may be incorrect.">
            <a:extLst>
              <a:ext uri="{FF2B5EF4-FFF2-40B4-BE49-F238E27FC236}">
                <a16:creationId xmlns:a16="http://schemas.microsoft.com/office/drawing/2014/main" id="{9D9A458D-EA4F-49FB-C84C-D1B728B8D0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02E582-579C-EFF5-3EDC-EEA3CCCC2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rgbClr val="57B535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38665-153F-0B31-B067-B0588C59361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94316" y="1347708"/>
            <a:ext cx="4301971" cy="4449802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61709AC-2F2B-8B78-0EED-55EC063F156D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4810926" y="1352141"/>
            <a:ext cx="2570148" cy="2176720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52E8B48-D665-6114-7498-7ACA53C41FB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810926" y="3633699"/>
            <a:ext cx="2570148" cy="2126078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974744-3FE8-1ECB-F688-A8D96292CB4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78697" y="1347708"/>
            <a:ext cx="4301971" cy="4449802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 descr="A bright light in the dark&#10;&#10;AI-generated content may be incorrect.">
            <a:extLst>
              <a:ext uri="{FF2B5EF4-FFF2-40B4-BE49-F238E27FC236}">
                <a16:creationId xmlns:a16="http://schemas.microsoft.com/office/drawing/2014/main" id="{34B809BE-6A87-A2D1-42D7-25BD19A33B3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504020">
            <a:off x="10674513" y="4210539"/>
            <a:ext cx="2613910" cy="4220047"/>
          </a:xfrm>
          <a:prstGeom prst="rect">
            <a:avLst/>
          </a:prstGeom>
        </p:spPr>
      </p:pic>
      <p:pic>
        <p:nvPicPr>
          <p:cNvPr id="8" name="Picture 7" descr="Vegas skyline">
            <a:extLst>
              <a:ext uri="{FF2B5EF4-FFF2-40B4-BE49-F238E27FC236}">
                <a16:creationId xmlns:a16="http://schemas.microsoft.com/office/drawing/2014/main" id="{02A24BCE-6FAB-859B-DF06-6E1C99C3389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76177"/>
            <a:ext cx="12192000" cy="701675"/>
          </a:xfrm>
          <a:prstGeom prst="rect">
            <a:avLst/>
          </a:prstGeom>
        </p:spPr>
      </p:pic>
      <p:pic>
        <p:nvPicPr>
          <p:cNvPr id="13" name="Picture 12" descr="A logo with palm trees&#10;&#10;AI-generated content may be incorrect.">
            <a:extLst>
              <a:ext uri="{FF2B5EF4-FFF2-40B4-BE49-F238E27FC236}">
                <a16:creationId xmlns:a16="http://schemas.microsoft.com/office/drawing/2014/main" id="{B171047F-FB66-0AAC-E937-461D76C394D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5190" y="5526108"/>
            <a:ext cx="1584519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76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yellow and orange striped pattern&#10;&#10;AI-generated content may be incorrect.">
            <a:extLst>
              <a:ext uri="{FF2B5EF4-FFF2-40B4-BE49-F238E27FC236}">
                <a16:creationId xmlns:a16="http://schemas.microsoft.com/office/drawing/2014/main" id="{42BC1B06-D8FE-577C-CA46-04E0D240B9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30">
            <a:extLst>
              <a:ext uri="{FF2B5EF4-FFF2-40B4-BE49-F238E27FC236}">
                <a16:creationId xmlns:a16="http://schemas.microsoft.com/office/drawing/2014/main" id="{34E64832-2A5E-1A03-F2D8-77A19644A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024023"/>
            <a:ext cx="10515600" cy="1325563"/>
          </a:xfrm>
        </p:spPr>
        <p:txBody>
          <a:bodyPr>
            <a:noAutofit/>
          </a:bodyPr>
          <a:lstStyle>
            <a:lvl1pPr algn="ctr">
              <a:defRPr sz="7200" b="1" i="0">
                <a:solidFill>
                  <a:srgbClr val="E97A15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18C36EB-5529-72B2-87F7-9801C49E140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08415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 i="0">
                <a:solidFill>
                  <a:srgbClr val="B86010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18" name="Picture 17" descr="A group of palm trees&#10;&#10;AI-generated content may be incorrect.">
            <a:extLst>
              <a:ext uri="{FF2B5EF4-FFF2-40B4-BE49-F238E27FC236}">
                <a16:creationId xmlns:a16="http://schemas.microsoft.com/office/drawing/2014/main" id="{5BDC4D58-3221-E073-2420-248089D5F4F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6395019"/>
            <a:ext cx="1439456" cy="462981"/>
          </a:xfrm>
          <a:prstGeom prst="rect">
            <a:avLst/>
          </a:prstGeom>
        </p:spPr>
      </p:pic>
      <p:pic>
        <p:nvPicPr>
          <p:cNvPr id="19" name="Picture 18" descr="A group of palm trees&#10;&#10;AI-generated content may be incorrect.">
            <a:extLst>
              <a:ext uri="{FF2B5EF4-FFF2-40B4-BE49-F238E27FC236}">
                <a16:creationId xmlns:a16="http://schemas.microsoft.com/office/drawing/2014/main" id="{C2CD9539-D641-99F5-108E-B9B1E3EB4A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5877" y="6395018"/>
            <a:ext cx="1439456" cy="462981"/>
          </a:xfrm>
          <a:prstGeom prst="rect">
            <a:avLst/>
          </a:prstGeom>
        </p:spPr>
      </p:pic>
      <p:pic>
        <p:nvPicPr>
          <p:cNvPr id="20" name="Picture 19" descr="A group of palm trees&#10;&#10;AI-generated content may be incorrect.">
            <a:extLst>
              <a:ext uri="{FF2B5EF4-FFF2-40B4-BE49-F238E27FC236}">
                <a16:creationId xmlns:a16="http://schemas.microsoft.com/office/drawing/2014/main" id="{70AC1091-CF86-9825-AE53-202036D0ED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0955" y="6395020"/>
            <a:ext cx="1439456" cy="462981"/>
          </a:xfrm>
          <a:prstGeom prst="rect">
            <a:avLst/>
          </a:prstGeom>
        </p:spPr>
      </p:pic>
      <p:pic>
        <p:nvPicPr>
          <p:cNvPr id="21" name="Picture 20" descr="A group of palm trees&#10;&#10;AI-generated content may be incorrect.">
            <a:extLst>
              <a:ext uri="{FF2B5EF4-FFF2-40B4-BE49-F238E27FC236}">
                <a16:creationId xmlns:a16="http://schemas.microsoft.com/office/drawing/2014/main" id="{FD5CF650-B066-8989-49E4-7A1E1AA24C5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4710" y="6395019"/>
            <a:ext cx="1439456" cy="462981"/>
          </a:xfrm>
          <a:prstGeom prst="rect">
            <a:avLst/>
          </a:prstGeom>
        </p:spPr>
      </p:pic>
      <p:pic>
        <p:nvPicPr>
          <p:cNvPr id="22" name="Picture 21" descr="A group of palm trees&#10;&#10;AI-generated content may be incorrect.">
            <a:extLst>
              <a:ext uri="{FF2B5EF4-FFF2-40B4-BE49-F238E27FC236}">
                <a16:creationId xmlns:a16="http://schemas.microsoft.com/office/drawing/2014/main" id="{114A3C6F-8466-4E05-FAC3-CF81BB89C18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9511" y="6267311"/>
            <a:ext cx="1836510" cy="590688"/>
          </a:xfrm>
          <a:prstGeom prst="rect">
            <a:avLst/>
          </a:prstGeom>
        </p:spPr>
      </p:pic>
      <p:pic>
        <p:nvPicPr>
          <p:cNvPr id="23" name="Picture 22" descr="A group of palm trees&#10;&#10;AI-generated content may be incorrect.">
            <a:extLst>
              <a:ext uri="{FF2B5EF4-FFF2-40B4-BE49-F238E27FC236}">
                <a16:creationId xmlns:a16="http://schemas.microsoft.com/office/drawing/2014/main" id="{7D0C99B6-3990-D8AB-65CB-FE98154E6B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1366" y="6395019"/>
            <a:ext cx="1439456" cy="462981"/>
          </a:xfrm>
          <a:prstGeom prst="rect">
            <a:avLst/>
          </a:prstGeom>
        </p:spPr>
      </p:pic>
      <p:pic>
        <p:nvPicPr>
          <p:cNvPr id="24" name="Picture 23" descr="A group of palm trees&#10;&#10;AI-generated content may be incorrect.">
            <a:extLst>
              <a:ext uri="{FF2B5EF4-FFF2-40B4-BE49-F238E27FC236}">
                <a16:creationId xmlns:a16="http://schemas.microsoft.com/office/drawing/2014/main" id="{30399868-AA63-EEF6-6A9B-8CBA39AEA3A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30621" y="6395020"/>
            <a:ext cx="1439456" cy="462981"/>
          </a:xfrm>
          <a:prstGeom prst="rect">
            <a:avLst/>
          </a:prstGeom>
        </p:spPr>
      </p:pic>
      <p:pic>
        <p:nvPicPr>
          <p:cNvPr id="25" name="Picture 24" descr="A group of palm trees&#10;&#10;AI-generated content may be incorrect.">
            <a:extLst>
              <a:ext uri="{FF2B5EF4-FFF2-40B4-BE49-F238E27FC236}">
                <a16:creationId xmlns:a16="http://schemas.microsoft.com/office/drawing/2014/main" id="{2219417F-B966-B812-A041-BDAB707E88A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0194" y="6395019"/>
            <a:ext cx="1439456" cy="462981"/>
          </a:xfrm>
          <a:prstGeom prst="rect">
            <a:avLst/>
          </a:prstGeom>
        </p:spPr>
      </p:pic>
      <p:pic>
        <p:nvPicPr>
          <p:cNvPr id="27" name="Picture 26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06EF0AB3-FA2A-52C1-F742-58CF5B55512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933341" y="6193892"/>
            <a:ext cx="743589" cy="664108"/>
          </a:xfrm>
          <a:prstGeom prst="rect">
            <a:avLst/>
          </a:prstGeom>
        </p:spPr>
      </p:pic>
      <p:pic>
        <p:nvPicPr>
          <p:cNvPr id="28" name="Picture 27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1E9A688E-C128-39DD-A2FF-9EE0238D54B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504584" y="6235607"/>
            <a:ext cx="743589" cy="664108"/>
          </a:xfrm>
          <a:prstGeom prst="rect">
            <a:avLst/>
          </a:prstGeom>
        </p:spPr>
      </p:pic>
      <p:pic>
        <p:nvPicPr>
          <p:cNvPr id="30" name="Picture 29" descr="A logo with palm trees&#10;&#10;AI-generated content may be incorrect.">
            <a:extLst>
              <a:ext uri="{FF2B5EF4-FFF2-40B4-BE49-F238E27FC236}">
                <a16:creationId xmlns:a16="http://schemas.microsoft.com/office/drawing/2014/main" id="{276EFEAA-5D16-9964-BAFB-E1FE5408E6E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5736692"/>
            <a:ext cx="1056346" cy="914400"/>
          </a:xfrm>
          <a:prstGeom prst="rect">
            <a:avLst/>
          </a:prstGeom>
        </p:spPr>
      </p:pic>
      <p:pic>
        <p:nvPicPr>
          <p:cNvPr id="31" name="Picture 30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69478810-6400-6096-126E-46900AFCB10D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1010806" y="5593532"/>
            <a:ext cx="1438602" cy="128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6656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A yellow and orange striped pattern&#10;&#10;AI-generated content may be incorrect.">
            <a:extLst>
              <a:ext uri="{FF2B5EF4-FFF2-40B4-BE49-F238E27FC236}">
                <a16:creationId xmlns:a16="http://schemas.microsoft.com/office/drawing/2014/main" id="{B91A0170-96CE-8E70-94B6-7B4C351387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5D4767A-CB43-DDF1-3971-339148541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315" y="1357460"/>
            <a:ext cx="11381889" cy="4402317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32706FC-B096-B52E-4615-7DC39DAD9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rgbClr val="EB8325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13" name="Picture 12" descr="A group of palm trees&#10;&#10;AI-generated content may be incorrect.">
            <a:extLst>
              <a:ext uri="{FF2B5EF4-FFF2-40B4-BE49-F238E27FC236}">
                <a16:creationId xmlns:a16="http://schemas.microsoft.com/office/drawing/2014/main" id="{3C9D65BA-9962-AC37-004C-A94FD659C6B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6395019"/>
            <a:ext cx="1439456" cy="462981"/>
          </a:xfrm>
          <a:prstGeom prst="rect">
            <a:avLst/>
          </a:prstGeom>
        </p:spPr>
      </p:pic>
      <p:pic>
        <p:nvPicPr>
          <p:cNvPr id="14" name="Picture 13" descr="A group of palm trees&#10;&#10;AI-generated content may be incorrect.">
            <a:extLst>
              <a:ext uri="{FF2B5EF4-FFF2-40B4-BE49-F238E27FC236}">
                <a16:creationId xmlns:a16="http://schemas.microsoft.com/office/drawing/2014/main" id="{0A655FB8-F28D-C0C6-9AF2-35BBC3DBE4F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5877" y="6395018"/>
            <a:ext cx="1439456" cy="462981"/>
          </a:xfrm>
          <a:prstGeom prst="rect">
            <a:avLst/>
          </a:prstGeom>
        </p:spPr>
      </p:pic>
      <p:pic>
        <p:nvPicPr>
          <p:cNvPr id="15" name="Picture 14" descr="A group of palm trees&#10;&#10;AI-generated content may be incorrect.">
            <a:extLst>
              <a:ext uri="{FF2B5EF4-FFF2-40B4-BE49-F238E27FC236}">
                <a16:creationId xmlns:a16="http://schemas.microsoft.com/office/drawing/2014/main" id="{3C739A58-4EB7-0EAB-0C2E-1E79DD7E8B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0955" y="6395020"/>
            <a:ext cx="1439456" cy="462981"/>
          </a:xfrm>
          <a:prstGeom prst="rect">
            <a:avLst/>
          </a:prstGeom>
        </p:spPr>
      </p:pic>
      <p:pic>
        <p:nvPicPr>
          <p:cNvPr id="18" name="Picture 17" descr="A group of palm trees&#10;&#10;AI-generated content may be incorrect.">
            <a:extLst>
              <a:ext uri="{FF2B5EF4-FFF2-40B4-BE49-F238E27FC236}">
                <a16:creationId xmlns:a16="http://schemas.microsoft.com/office/drawing/2014/main" id="{9A3D5B8C-926D-BD13-15FA-BF70E81CD3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4710" y="6395019"/>
            <a:ext cx="1439456" cy="462981"/>
          </a:xfrm>
          <a:prstGeom prst="rect">
            <a:avLst/>
          </a:prstGeom>
        </p:spPr>
      </p:pic>
      <p:pic>
        <p:nvPicPr>
          <p:cNvPr id="19" name="Picture 18" descr="A group of palm trees&#10;&#10;AI-generated content may be incorrect.">
            <a:extLst>
              <a:ext uri="{FF2B5EF4-FFF2-40B4-BE49-F238E27FC236}">
                <a16:creationId xmlns:a16="http://schemas.microsoft.com/office/drawing/2014/main" id="{736E4FD8-E803-72B5-BFA0-5B8A299B52A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9511" y="6267311"/>
            <a:ext cx="1836510" cy="590688"/>
          </a:xfrm>
          <a:prstGeom prst="rect">
            <a:avLst/>
          </a:prstGeom>
        </p:spPr>
      </p:pic>
      <p:pic>
        <p:nvPicPr>
          <p:cNvPr id="20" name="Picture 19" descr="A group of palm trees&#10;&#10;AI-generated content may be incorrect.">
            <a:extLst>
              <a:ext uri="{FF2B5EF4-FFF2-40B4-BE49-F238E27FC236}">
                <a16:creationId xmlns:a16="http://schemas.microsoft.com/office/drawing/2014/main" id="{AC60069C-1D5C-B609-899D-FF5AE94209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1366" y="6395019"/>
            <a:ext cx="1439456" cy="462981"/>
          </a:xfrm>
          <a:prstGeom prst="rect">
            <a:avLst/>
          </a:prstGeom>
        </p:spPr>
      </p:pic>
      <p:pic>
        <p:nvPicPr>
          <p:cNvPr id="21" name="Picture 20" descr="A group of palm trees&#10;&#10;AI-generated content may be incorrect.">
            <a:extLst>
              <a:ext uri="{FF2B5EF4-FFF2-40B4-BE49-F238E27FC236}">
                <a16:creationId xmlns:a16="http://schemas.microsoft.com/office/drawing/2014/main" id="{288669B7-ECB1-5061-8B77-892CBFF1C1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30621" y="6395020"/>
            <a:ext cx="1439456" cy="462981"/>
          </a:xfrm>
          <a:prstGeom prst="rect">
            <a:avLst/>
          </a:prstGeom>
        </p:spPr>
      </p:pic>
      <p:pic>
        <p:nvPicPr>
          <p:cNvPr id="22" name="Picture 21" descr="A group of palm trees&#10;&#10;AI-generated content may be incorrect.">
            <a:extLst>
              <a:ext uri="{FF2B5EF4-FFF2-40B4-BE49-F238E27FC236}">
                <a16:creationId xmlns:a16="http://schemas.microsoft.com/office/drawing/2014/main" id="{EAEE5E12-2EBB-C5CB-8D0C-B7FB8522AF3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0194" y="6395019"/>
            <a:ext cx="1439456" cy="462981"/>
          </a:xfrm>
          <a:prstGeom prst="rect">
            <a:avLst/>
          </a:prstGeom>
        </p:spPr>
      </p:pic>
      <p:pic>
        <p:nvPicPr>
          <p:cNvPr id="23" name="Picture 22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70BE29EE-17C8-41A2-0FF7-EAA95050EED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933341" y="6193892"/>
            <a:ext cx="743589" cy="664108"/>
          </a:xfrm>
          <a:prstGeom prst="rect">
            <a:avLst/>
          </a:prstGeom>
        </p:spPr>
      </p:pic>
      <p:pic>
        <p:nvPicPr>
          <p:cNvPr id="24" name="Picture 23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9B6D4491-A061-C0C6-4C1D-F6D23C4A9F8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504584" y="6235607"/>
            <a:ext cx="743589" cy="664108"/>
          </a:xfrm>
          <a:prstGeom prst="rect">
            <a:avLst/>
          </a:prstGeom>
        </p:spPr>
      </p:pic>
      <p:pic>
        <p:nvPicPr>
          <p:cNvPr id="25" name="Picture 24" descr="A logo with palm trees&#10;&#10;AI-generated content may be incorrect.">
            <a:extLst>
              <a:ext uri="{FF2B5EF4-FFF2-40B4-BE49-F238E27FC236}">
                <a16:creationId xmlns:a16="http://schemas.microsoft.com/office/drawing/2014/main" id="{B45C1AC3-1876-2741-A31D-90EAB1F54DC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5736692"/>
            <a:ext cx="1056346" cy="914400"/>
          </a:xfrm>
          <a:prstGeom prst="rect">
            <a:avLst/>
          </a:prstGeom>
        </p:spPr>
      </p:pic>
      <p:pic>
        <p:nvPicPr>
          <p:cNvPr id="28" name="Picture 27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F7B10ECD-147D-5B46-7F82-6057ADAC7C2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1010806" y="5593532"/>
            <a:ext cx="1438602" cy="128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9229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A yellow and orange striped pattern&#10;&#10;AI-generated content may be incorrect.">
            <a:extLst>
              <a:ext uri="{FF2B5EF4-FFF2-40B4-BE49-F238E27FC236}">
                <a16:creationId xmlns:a16="http://schemas.microsoft.com/office/drawing/2014/main" id="{9B9FD6BF-757C-48AC-1974-EAA1180E22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A06A9C-FB58-4491-3974-B1E6EA3689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rgbClr val="EB8325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BC5458-4486-FE70-DBF3-3F5730396A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4316" y="1349603"/>
            <a:ext cx="5625484" cy="4421496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01EA29B-6DEB-BEA0-914D-B70BED13D1F3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50721" y="1347708"/>
            <a:ext cx="5625484" cy="4421496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 descr="A group of palm trees&#10;&#10;AI-generated content may be incorrect.">
            <a:extLst>
              <a:ext uri="{FF2B5EF4-FFF2-40B4-BE49-F238E27FC236}">
                <a16:creationId xmlns:a16="http://schemas.microsoft.com/office/drawing/2014/main" id="{109ED2A6-8143-F805-43E6-6E084913FD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6395019"/>
            <a:ext cx="1439456" cy="462981"/>
          </a:xfrm>
          <a:prstGeom prst="rect">
            <a:avLst/>
          </a:prstGeom>
        </p:spPr>
      </p:pic>
      <p:pic>
        <p:nvPicPr>
          <p:cNvPr id="15" name="Picture 14" descr="A group of palm trees&#10;&#10;AI-generated content may be incorrect.">
            <a:extLst>
              <a:ext uri="{FF2B5EF4-FFF2-40B4-BE49-F238E27FC236}">
                <a16:creationId xmlns:a16="http://schemas.microsoft.com/office/drawing/2014/main" id="{F31FA20B-ACDA-0AFB-78E0-08B70100A0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5877" y="6395018"/>
            <a:ext cx="1439456" cy="462981"/>
          </a:xfrm>
          <a:prstGeom prst="rect">
            <a:avLst/>
          </a:prstGeom>
        </p:spPr>
      </p:pic>
      <p:pic>
        <p:nvPicPr>
          <p:cNvPr id="18" name="Picture 17" descr="A group of palm trees&#10;&#10;AI-generated content may be incorrect.">
            <a:extLst>
              <a:ext uri="{FF2B5EF4-FFF2-40B4-BE49-F238E27FC236}">
                <a16:creationId xmlns:a16="http://schemas.microsoft.com/office/drawing/2014/main" id="{C205C144-FED5-8884-F9AC-FFD58452D7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0955" y="6395020"/>
            <a:ext cx="1439456" cy="462981"/>
          </a:xfrm>
          <a:prstGeom prst="rect">
            <a:avLst/>
          </a:prstGeom>
        </p:spPr>
      </p:pic>
      <p:pic>
        <p:nvPicPr>
          <p:cNvPr id="19" name="Picture 18" descr="A group of palm trees&#10;&#10;AI-generated content may be incorrect.">
            <a:extLst>
              <a:ext uri="{FF2B5EF4-FFF2-40B4-BE49-F238E27FC236}">
                <a16:creationId xmlns:a16="http://schemas.microsoft.com/office/drawing/2014/main" id="{11F8356E-C3FA-1B3C-4FBA-35A10F274B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4710" y="6395019"/>
            <a:ext cx="1439456" cy="462981"/>
          </a:xfrm>
          <a:prstGeom prst="rect">
            <a:avLst/>
          </a:prstGeom>
        </p:spPr>
      </p:pic>
      <p:pic>
        <p:nvPicPr>
          <p:cNvPr id="20" name="Picture 19" descr="A group of palm trees&#10;&#10;AI-generated content may be incorrect.">
            <a:extLst>
              <a:ext uri="{FF2B5EF4-FFF2-40B4-BE49-F238E27FC236}">
                <a16:creationId xmlns:a16="http://schemas.microsoft.com/office/drawing/2014/main" id="{95012760-DCAC-50F8-310D-D2C01B61B1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9511" y="6267311"/>
            <a:ext cx="1836510" cy="590688"/>
          </a:xfrm>
          <a:prstGeom prst="rect">
            <a:avLst/>
          </a:prstGeom>
        </p:spPr>
      </p:pic>
      <p:pic>
        <p:nvPicPr>
          <p:cNvPr id="21" name="Picture 20" descr="A group of palm trees&#10;&#10;AI-generated content may be incorrect.">
            <a:extLst>
              <a:ext uri="{FF2B5EF4-FFF2-40B4-BE49-F238E27FC236}">
                <a16:creationId xmlns:a16="http://schemas.microsoft.com/office/drawing/2014/main" id="{E7F1DE7A-DCEE-2ED2-0041-D53C54048C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1366" y="6395019"/>
            <a:ext cx="1439456" cy="462981"/>
          </a:xfrm>
          <a:prstGeom prst="rect">
            <a:avLst/>
          </a:prstGeom>
        </p:spPr>
      </p:pic>
      <p:pic>
        <p:nvPicPr>
          <p:cNvPr id="22" name="Picture 21" descr="A group of palm trees&#10;&#10;AI-generated content may be incorrect.">
            <a:extLst>
              <a:ext uri="{FF2B5EF4-FFF2-40B4-BE49-F238E27FC236}">
                <a16:creationId xmlns:a16="http://schemas.microsoft.com/office/drawing/2014/main" id="{20B049DC-17B5-4243-D46B-04573D489E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30621" y="6395020"/>
            <a:ext cx="1439456" cy="462981"/>
          </a:xfrm>
          <a:prstGeom prst="rect">
            <a:avLst/>
          </a:prstGeom>
        </p:spPr>
      </p:pic>
      <p:pic>
        <p:nvPicPr>
          <p:cNvPr id="23" name="Picture 22" descr="A group of palm trees&#10;&#10;AI-generated content may be incorrect.">
            <a:extLst>
              <a:ext uri="{FF2B5EF4-FFF2-40B4-BE49-F238E27FC236}">
                <a16:creationId xmlns:a16="http://schemas.microsoft.com/office/drawing/2014/main" id="{4C135ECD-E118-58CF-D4DD-9229590DAB2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0194" y="6395019"/>
            <a:ext cx="1439456" cy="462981"/>
          </a:xfrm>
          <a:prstGeom prst="rect">
            <a:avLst/>
          </a:prstGeom>
        </p:spPr>
      </p:pic>
      <p:pic>
        <p:nvPicPr>
          <p:cNvPr id="24" name="Picture 23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D6BAEA62-66F7-C230-F6D7-53EBC6ED443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933341" y="6193892"/>
            <a:ext cx="743589" cy="664108"/>
          </a:xfrm>
          <a:prstGeom prst="rect">
            <a:avLst/>
          </a:prstGeom>
        </p:spPr>
      </p:pic>
      <p:pic>
        <p:nvPicPr>
          <p:cNvPr id="25" name="Picture 24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140BD93C-A864-A1A7-B1F4-0C67DA53BE3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504584" y="6235607"/>
            <a:ext cx="743589" cy="664108"/>
          </a:xfrm>
          <a:prstGeom prst="rect">
            <a:avLst/>
          </a:prstGeom>
        </p:spPr>
      </p:pic>
      <p:pic>
        <p:nvPicPr>
          <p:cNvPr id="26" name="Picture 25" descr="A logo with palm trees&#10;&#10;AI-generated content may be incorrect.">
            <a:extLst>
              <a:ext uri="{FF2B5EF4-FFF2-40B4-BE49-F238E27FC236}">
                <a16:creationId xmlns:a16="http://schemas.microsoft.com/office/drawing/2014/main" id="{237CC91F-E767-8EAB-1022-D5042CDACD6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5736692"/>
            <a:ext cx="1056346" cy="914400"/>
          </a:xfrm>
          <a:prstGeom prst="rect">
            <a:avLst/>
          </a:prstGeom>
        </p:spPr>
      </p:pic>
      <p:pic>
        <p:nvPicPr>
          <p:cNvPr id="29" name="Picture 28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112B499E-474C-A96A-6232-CB02D3EAFB5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1010806" y="5593532"/>
            <a:ext cx="1438602" cy="128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7522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yellow and orange striped pattern&#10;&#10;AI-generated content may be incorrect.">
            <a:extLst>
              <a:ext uri="{FF2B5EF4-FFF2-40B4-BE49-F238E27FC236}">
                <a16:creationId xmlns:a16="http://schemas.microsoft.com/office/drawing/2014/main" id="{7682339F-A014-9150-D8FA-BAE3FFD993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936479-8D30-0366-98A8-B1F99459F4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rgbClr val="EB8325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F462C1-2CFF-D0A0-6B38-AB8AFBAE6F5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94316" y="3963177"/>
            <a:ext cx="11381889" cy="1796600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9B68249-C779-95E6-8347-096090E8A8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51106" y="1347708"/>
            <a:ext cx="5628821" cy="2518929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5B8F2154-FAB8-6148-B867-71F96F3773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06507" y="1347708"/>
            <a:ext cx="5628821" cy="2518929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pic>
        <p:nvPicPr>
          <p:cNvPr id="15" name="Picture 14" descr="A group of palm trees&#10;&#10;AI-generated content may be incorrect.">
            <a:extLst>
              <a:ext uri="{FF2B5EF4-FFF2-40B4-BE49-F238E27FC236}">
                <a16:creationId xmlns:a16="http://schemas.microsoft.com/office/drawing/2014/main" id="{AC042E48-BFE2-9E20-3211-F3D349C351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6395019"/>
            <a:ext cx="1439456" cy="462981"/>
          </a:xfrm>
          <a:prstGeom prst="rect">
            <a:avLst/>
          </a:prstGeom>
        </p:spPr>
      </p:pic>
      <p:pic>
        <p:nvPicPr>
          <p:cNvPr id="18" name="Picture 17" descr="A group of palm trees&#10;&#10;AI-generated content may be incorrect.">
            <a:extLst>
              <a:ext uri="{FF2B5EF4-FFF2-40B4-BE49-F238E27FC236}">
                <a16:creationId xmlns:a16="http://schemas.microsoft.com/office/drawing/2014/main" id="{1B465E8C-62CB-5CF3-B444-33B0E3768D3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5877" y="6395018"/>
            <a:ext cx="1439456" cy="462981"/>
          </a:xfrm>
          <a:prstGeom prst="rect">
            <a:avLst/>
          </a:prstGeom>
        </p:spPr>
      </p:pic>
      <p:pic>
        <p:nvPicPr>
          <p:cNvPr id="19" name="Picture 18" descr="A group of palm trees&#10;&#10;AI-generated content may be incorrect.">
            <a:extLst>
              <a:ext uri="{FF2B5EF4-FFF2-40B4-BE49-F238E27FC236}">
                <a16:creationId xmlns:a16="http://schemas.microsoft.com/office/drawing/2014/main" id="{0A6E7958-5CD3-E0FD-969B-E54CCFD2985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0955" y="6395020"/>
            <a:ext cx="1439456" cy="462981"/>
          </a:xfrm>
          <a:prstGeom prst="rect">
            <a:avLst/>
          </a:prstGeom>
        </p:spPr>
      </p:pic>
      <p:pic>
        <p:nvPicPr>
          <p:cNvPr id="20" name="Picture 19" descr="A group of palm trees&#10;&#10;AI-generated content may be incorrect.">
            <a:extLst>
              <a:ext uri="{FF2B5EF4-FFF2-40B4-BE49-F238E27FC236}">
                <a16:creationId xmlns:a16="http://schemas.microsoft.com/office/drawing/2014/main" id="{3E92B52F-65FF-79AA-720F-20A371AF5B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4710" y="6395019"/>
            <a:ext cx="1439456" cy="462981"/>
          </a:xfrm>
          <a:prstGeom prst="rect">
            <a:avLst/>
          </a:prstGeom>
        </p:spPr>
      </p:pic>
      <p:pic>
        <p:nvPicPr>
          <p:cNvPr id="21" name="Picture 20" descr="A group of palm trees&#10;&#10;AI-generated content may be incorrect.">
            <a:extLst>
              <a:ext uri="{FF2B5EF4-FFF2-40B4-BE49-F238E27FC236}">
                <a16:creationId xmlns:a16="http://schemas.microsoft.com/office/drawing/2014/main" id="{18917980-66EB-3C4B-27F0-613268D0DAA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9511" y="6267311"/>
            <a:ext cx="1836510" cy="590688"/>
          </a:xfrm>
          <a:prstGeom prst="rect">
            <a:avLst/>
          </a:prstGeom>
        </p:spPr>
      </p:pic>
      <p:pic>
        <p:nvPicPr>
          <p:cNvPr id="22" name="Picture 21" descr="A group of palm trees&#10;&#10;AI-generated content may be incorrect.">
            <a:extLst>
              <a:ext uri="{FF2B5EF4-FFF2-40B4-BE49-F238E27FC236}">
                <a16:creationId xmlns:a16="http://schemas.microsoft.com/office/drawing/2014/main" id="{CD994ED2-CC9C-4159-8C19-74A1E131B9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1366" y="6395019"/>
            <a:ext cx="1439456" cy="462981"/>
          </a:xfrm>
          <a:prstGeom prst="rect">
            <a:avLst/>
          </a:prstGeom>
        </p:spPr>
      </p:pic>
      <p:pic>
        <p:nvPicPr>
          <p:cNvPr id="23" name="Picture 22" descr="A group of palm trees&#10;&#10;AI-generated content may be incorrect.">
            <a:extLst>
              <a:ext uri="{FF2B5EF4-FFF2-40B4-BE49-F238E27FC236}">
                <a16:creationId xmlns:a16="http://schemas.microsoft.com/office/drawing/2014/main" id="{AC6ACFFB-03BA-01CC-8983-CB9C1AB396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30621" y="6395020"/>
            <a:ext cx="1439456" cy="462981"/>
          </a:xfrm>
          <a:prstGeom prst="rect">
            <a:avLst/>
          </a:prstGeom>
        </p:spPr>
      </p:pic>
      <p:pic>
        <p:nvPicPr>
          <p:cNvPr id="24" name="Picture 23" descr="A group of palm trees&#10;&#10;AI-generated content may be incorrect.">
            <a:extLst>
              <a:ext uri="{FF2B5EF4-FFF2-40B4-BE49-F238E27FC236}">
                <a16:creationId xmlns:a16="http://schemas.microsoft.com/office/drawing/2014/main" id="{4887F3D4-7957-A139-5C04-C3FCCD6B972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0194" y="6395019"/>
            <a:ext cx="1439456" cy="462981"/>
          </a:xfrm>
          <a:prstGeom prst="rect">
            <a:avLst/>
          </a:prstGeom>
        </p:spPr>
      </p:pic>
      <p:pic>
        <p:nvPicPr>
          <p:cNvPr id="25" name="Picture 24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50B50D5B-AB41-D2AF-CF68-5459FFE1EAF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933341" y="6193892"/>
            <a:ext cx="743589" cy="664108"/>
          </a:xfrm>
          <a:prstGeom prst="rect">
            <a:avLst/>
          </a:prstGeom>
        </p:spPr>
      </p:pic>
      <p:pic>
        <p:nvPicPr>
          <p:cNvPr id="26" name="Picture 25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8BA5636C-DADC-BF7F-6C2A-4932B5E8792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504584" y="6235607"/>
            <a:ext cx="743589" cy="664108"/>
          </a:xfrm>
          <a:prstGeom prst="rect">
            <a:avLst/>
          </a:prstGeom>
        </p:spPr>
      </p:pic>
      <p:pic>
        <p:nvPicPr>
          <p:cNvPr id="27" name="Picture 26" descr="A logo with palm trees&#10;&#10;AI-generated content may be incorrect.">
            <a:extLst>
              <a:ext uri="{FF2B5EF4-FFF2-40B4-BE49-F238E27FC236}">
                <a16:creationId xmlns:a16="http://schemas.microsoft.com/office/drawing/2014/main" id="{DECDD052-9254-BCFF-3A0A-34D4DC5BBB1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5736692"/>
            <a:ext cx="1056346" cy="914400"/>
          </a:xfrm>
          <a:prstGeom prst="rect">
            <a:avLst/>
          </a:prstGeom>
        </p:spPr>
      </p:pic>
      <p:pic>
        <p:nvPicPr>
          <p:cNvPr id="30" name="Picture 29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BF38F4D0-67DA-C443-D170-0D39AF4DAE44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1010806" y="5593532"/>
            <a:ext cx="1438602" cy="128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2374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yellow and orange striped pattern&#10;&#10;AI-generated content may be incorrect.">
            <a:extLst>
              <a:ext uri="{FF2B5EF4-FFF2-40B4-BE49-F238E27FC236}">
                <a16:creationId xmlns:a16="http://schemas.microsoft.com/office/drawing/2014/main" id="{BD2BE320-8FE0-C514-0324-0E24832C03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1443E7-83B6-9D9D-95B0-95C13945E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rgbClr val="EB8325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3D06AF-E740-17F1-FABD-186A5F24F6C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94316" y="1347708"/>
            <a:ext cx="11381889" cy="1759156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9A4AA9F0-8950-9B11-B323-EB868A65E59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37983" y="3183603"/>
            <a:ext cx="5628821" cy="2595028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A9AD557-FD79-25E6-091F-823A037D903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93384" y="3183603"/>
            <a:ext cx="5628821" cy="2595028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pic>
        <p:nvPicPr>
          <p:cNvPr id="15" name="Picture 14" descr="A group of palm trees&#10;&#10;AI-generated content may be incorrect.">
            <a:extLst>
              <a:ext uri="{FF2B5EF4-FFF2-40B4-BE49-F238E27FC236}">
                <a16:creationId xmlns:a16="http://schemas.microsoft.com/office/drawing/2014/main" id="{44FD2963-482C-B4B8-1491-33C59437989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6395019"/>
            <a:ext cx="1439456" cy="462981"/>
          </a:xfrm>
          <a:prstGeom prst="rect">
            <a:avLst/>
          </a:prstGeom>
        </p:spPr>
      </p:pic>
      <p:pic>
        <p:nvPicPr>
          <p:cNvPr id="18" name="Picture 17" descr="A group of palm trees&#10;&#10;AI-generated content may be incorrect.">
            <a:extLst>
              <a:ext uri="{FF2B5EF4-FFF2-40B4-BE49-F238E27FC236}">
                <a16:creationId xmlns:a16="http://schemas.microsoft.com/office/drawing/2014/main" id="{C34B8909-4B35-3616-DBF0-605A19F3FD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5877" y="6395018"/>
            <a:ext cx="1439456" cy="462981"/>
          </a:xfrm>
          <a:prstGeom prst="rect">
            <a:avLst/>
          </a:prstGeom>
        </p:spPr>
      </p:pic>
      <p:pic>
        <p:nvPicPr>
          <p:cNvPr id="19" name="Picture 18" descr="A group of palm trees&#10;&#10;AI-generated content may be incorrect.">
            <a:extLst>
              <a:ext uri="{FF2B5EF4-FFF2-40B4-BE49-F238E27FC236}">
                <a16:creationId xmlns:a16="http://schemas.microsoft.com/office/drawing/2014/main" id="{E96225B1-AB0C-A4F3-3BC3-7A370C6110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0955" y="6395020"/>
            <a:ext cx="1439456" cy="462981"/>
          </a:xfrm>
          <a:prstGeom prst="rect">
            <a:avLst/>
          </a:prstGeom>
        </p:spPr>
      </p:pic>
      <p:pic>
        <p:nvPicPr>
          <p:cNvPr id="20" name="Picture 19" descr="A group of palm trees&#10;&#10;AI-generated content may be incorrect.">
            <a:extLst>
              <a:ext uri="{FF2B5EF4-FFF2-40B4-BE49-F238E27FC236}">
                <a16:creationId xmlns:a16="http://schemas.microsoft.com/office/drawing/2014/main" id="{11BC5E47-1843-3E44-A64B-28907CC742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4710" y="6395019"/>
            <a:ext cx="1439456" cy="462981"/>
          </a:xfrm>
          <a:prstGeom prst="rect">
            <a:avLst/>
          </a:prstGeom>
        </p:spPr>
      </p:pic>
      <p:pic>
        <p:nvPicPr>
          <p:cNvPr id="21" name="Picture 20" descr="A group of palm trees&#10;&#10;AI-generated content may be incorrect.">
            <a:extLst>
              <a:ext uri="{FF2B5EF4-FFF2-40B4-BE49-F238E27FC236}">
                <a16:creationId xmlns:a16="http://schemas.microsoft.com/office/drawing/2014/main" id="{F97E6A8E-BFA6-6864-59E4-D8A6BB37583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9511" y="6267311"/>
            <a:ext cx="1836510" cy="590688"/>
          </a:xfrm>
          <a:prstGeom prst="rect">
            <a:avLst/>
          </a:prstGeom>
        </p:spPr>
      </p:pic>
      <p:pic>
        <p:nvPicPr>
          <p:cNvPr id="22" name="Picture 21" descr="A group of palm trees&#10;&#10;AI-generated content may be incorrect.">
            <a:extLst>
              <a:ext uri="{FF2B5EF4-FFF2-40B4-BE49-F238E27FC236}">
                <a16:creationId xmlns:a16="http://schemas.microsoft.com/office/drawing/2014/main" id="{5C4260D2-46E8-A0A2-4230-FC26FBB32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1366" y="6395019"/>
            <a:ext cx="1439456" cy="462981"/>
          </a:xfrm>
          <a:prstGeom prst="rect">
            <a:avLst/>
          </a:prstGeom>
        </p:spPr>
      </p:pic>
      <p:pic>
        <p:nvPicPr>
          <p:cNvPr id="23" name="Picture 22" descr="A group of palm trees&#10;&#10;AI-generated content may be incorrect.">
            <a:extLst>
              <a:ext uri="{FF2B5EF4-FFF2-40B4-BE49-F238E27FC236}">
                <a16:creationId xmlns:a16="http://schemas.microsoft.com/office/drawing/2014/main" id="{D5846DC3-2CA2-4BD7-0084-45755D2FE4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30621" y="6395020"/>
            <a:ext cx="1439456" cy="462981"/>
          </a:xfrm>
          <a:prstGeom prst="rect">
            <a:avLst/>
          </a:prstGeom>
        </p:spPr>
      </p:pic>
      <p:pic>
        <p:nvPicPr>
          <p:cNvPr id="24" name="Picture 23" descr="A group of palm trees&#10;&#10;AI-generated content may be incorrect.">
            <a:extLst>
              <a:ext uri="{FF2B5EF4-FFF2-40B4-BE49-F238E27FC236}">
                <a16:creationId xmlns:a16="http://schemas.microsoft.com/office/drawing/2014/main" id="{1703A467-D701-5DEB-6BE0-017E89009EE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0194" y="6395019"/>
            <a:ext cx="1439456" cy="462981"/>
          </a:xfrm>
          <a:prstGeom prst="rect">
            <a:avLst/>
          </a:prstGeom>
        </p:spPr>
      </p:pic>
      <p:pic>
        <p:nvPicPr>
          <p:cNvPr id="25" name="Picture 24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1B487685-5031-FCD6-F878-BEEADE621EC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933341" y="6193892"/>
            <a:ext cx="743589" cy="664108"/>
          </a:xfrm>
          <a:prstGeom prst="rect">
            <a:avLst/>
          </a:prstGeom>
        </p:spPr>
      </p:pic>
      <p:pic>
        <p:nvPicPr>
          <p:cNvPr id="26" name="Picture 25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03A675CE-727C-BD87-60BE-1F2D8295401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504584" y="6235607"/>
            <a:ext cx="743589" cy="664108"/>
          </a:xfrm>
          <a:prstGeom prst="rect">
            <a:avLst/>
          </a:prstGeom>
        </p:spPr>
      </p:pic>
      <p:pic>
        <p:nvPicPr>
          <p:cNvPr id="27" name="Picture 26" descr="A logo with palm trees&#10;&#10;AI-generated content may be incorrect.">
            <a:extLst>
              <a:ext uri="{FF2B5EF4-FFF2-40B4-BE49-F238E27FC236}">
                <a16:creationId xmlns:a16="http://schemas.microsoft.com/office/drawing/2014/main" id="{3C352F28-82E0-2095-635E-481741DA0DA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5736692"/>
            <a:ext cx="1056346" cy="914400"/>
          </a:xfrm>
          <a:prstGeom prst="rect">
            <a:avLst/>
          </a:prstGeom>
        </p:spPr>
      </p:pic>
      <p:pic>
        <p:nvPicPr>
          <p:cNvPr id="30" name="Picture 29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D9B9C488-8E3E-DCEA-95CF-59298DEB1B0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1010806" y="5593532"/>
            <a:ext cx="1438602" cy="128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3131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A yellow and orange striped pattern&#10;&#10;AI-generated content may be incorrect.">
            <a:extLst>
              <a:ext uri="{FF2B5EF4-FFF2-40B4-BE49-F238E27FC236}">
                <a16:creationId xmlns:a16="http://schemas.microsoft.com/office/drawing/2014/main" id="{3F9D1150-50F6-7D3D-26F5-8301C045F4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C0A905-A4EE-CDDD-2A6B-C7475222E8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rgbClr val="EB8325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B915BCC-F1D1-C2EF-6928-13D7487A979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94316" y="3963176"/>
            <a:ext cx="11381889" cy="1806027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4EDDDE5A-0B5C-DE40-DB11-7ECFC3CB0C08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92451" y="1358222"/>
            <a:ext cx="3739363" cy="2518929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986D1CA3-81B6-D575-9ADA-66E89436E03C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32426" y="1347708"/>
            <a:ext cx="3739363" cy="2518929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15E11FC8-53E7-5FFB-404E-CC2FB9E2EB1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212438" y="1356863"/>
            <a:ext cx="3739363" cy="2518929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pic>
        <p:nvPicPr>
          <p:cNvPr id="18" name="Picture 17" descr="A group of palm trees&#10;&#10;AI-generated content may be incorrect.">
            <a:extLst>
              <a:ext uri="{FF2B5EF4-FFF2-40B4-BE49-F238E27FC236}">
                <a16:creationId xmlns:a16="http://schemas.microsoft.com/office/drawing/2014/main" id="{3924D909-BBDF-AAB6-A70E-E76CA4FA2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6395019"/>
            <a:ext cx="1439456" cy="462981"/>
          </a:xfrm>
          <a:prstGeom prst="rect">
            <a:avLst/>
          </a:prstGeom>
        </p:spPr>
      </p:pic>
      <p:pic>
        <p:nvPicPr>
          <p:cNvPr id="19" name="Picture 18" descr="A group of palm trees&#10;&#10;AI-generated content may be incorrect.">
            <a:extLst>
              <a:ext uri="{FF2B5EF4-FFF2-40B4-BE49-F238E27FC236}">
                <a16:creationId xmlns:a16="http://schemas.microsoft.com/office/drawing/2014/main" id="{F39C3B9D-391D-9463-E3D2-04C259B24BB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5877" y="6395018"/>
            <a:ext cx="1439456" cy="462981"/>
          </a:xfrm>
          <a:prstGeom prst="rect">
            <a:avLst/>
          </a:prstGeom>
        </p:spPr>
      </p:pic>
      <p:pic>
        <p:nvPicPr>
          <p:cNvPr id="20" name="Picture 19" descr="A group of palm trees&#10;&#10;AI-generated content may be incorrect.">
            <a:extLst>
              <a:ext uri="{FF2B5EF4-FFF2-40B4-BE49-F238E27FC236}">
                <a16:creationId xmlns:a16="http://schemas.microsoft.com/office/drawing/2014/main" id="{5F286580-FB9E-0535-486C-5EEDBE8631F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0955" y="6395020"/>
            <a:ext cx="1439456" cy="462981"/>
          </a:xfrm>
          <a:prstGeom prst="rect">
            <a:avLst/>
          </a:prstGeom>
        </p:spPr>
      </p:pic>
      <p:pic>
        <p:nvPicPr>
          <p:cNvPr id="21" name="Picture 20" descr="A group of palm trees&#10;&#10;AI-generated content may be incorrect.">
            <a:extLst>
              <a:ext uri="{FF2B5EF4-FFF2-40B4-BE49-F238E27FC236}">
                <a16:creationId xmlns:a16="http://schemas.microsoft.com/office/drawing/2014/main" id="{EFF87ACE-EB4A-63DA-0928-8B243805FB8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4710" y="6395019"/>
            <a:ext cx="1439456" cy="462981"/>
          </a:xfrm>
          <a:prstGeom prst="rect">
            <a:avLst/>
          </a:prstGeom>
        </p:spPr>
      </p:pic>
      <p:pic>
        <p:nvPicPr>
          <p:cNvPr id="22" name="Picture 21" descr="A group of palm trees&#10;&#10;AI-generated content may be incorrect.">
            <a:extLst>
              <a:ext uri="{FF2B5EF4-FFF2-40B4-BE49-F238E27FC236}">
                <a16:creationId xmlns:a16="http://schemas.microsoft.com/office/drawing/2014/main" id="{79818E83-DDA0-0EE3-D6A0-AA6E165DC4C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9511" y="6267311"/>
            <a:ext cx="1836510" cy="590688"/>
          </a:xfrm>
          <a:prstGeom prst="rect">
            <a:avLst/>
          </a:prstGeom>
        </p:spPr>
      </p:pic>
      <p:pic>
        <p:nvPicPr>
          <p:cNvPr id="23" name="Picture 22" descr="A group of palm trees&#10;&#10;AI-generated content may be incorrect.">
            <a:extLst>
              <a:ext uri="{FF2B5EF4-FFF2-40B4-BE49-F238E27FC236}">
                <a16:creationId xmlns:a16="http://schemas.microsoft.com/office/drawing/2014/main" id="{14B70D15-7DDE-C47C-9657-CBA2AD3237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1366" y="6395019"/>
            <a:ext cx="1439456" cy="462981"/>
          </a:xfrm>
          <a:prstGeom prst="rect">
            <a:avLst/>
          </a:prstGeom>
        </p:spPr>
      </p:pic>
      <p:pic>
        <p:nvPicPr>
          <p:cNvPr id="24" name="Picture 23" descr="A group of palm trees&#10;&#10;AI-generated content may be incorrect.">
            <a:extLst>
              <a:ext uri="{FF2B5EF4-FFF2-40B4-BE49-F238E27FC236}">
                <a16:creationId xmlns:a16="http://schemas.microsoft.com/office/drawing/2014/main" id="{A9F8F729-5D92-E55A-BEB2-BE6FD8EDC5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30621" y="6395020"/>
            <a:ext cx="1439456" cy="462981"/>
          </a:xfrm>
          <a:prstGeom prst="rect">
            <a:avLst/>
          </a:prstGeom>
        </p:spPr>
      </p:pic>
      <p:pic>
        <p:nvPicPr>
          <p:cNvPr id="25" name="Picture 24" descr="A group of palm trees&#10;&#10;AI-generated content may be incorrect.">
            <a:extLst>
              <a:ext uri="{FF2B5EF4-FFF2-40B4-BE49-F238E27FC236}">
                <a16:creationId xmlns:a16="http://schemas.microsoft.com/office/drawing/2014/main" id="{C62F265C-F36A-F875-A4C0-A4F525B9A1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0194" y="6395019"/>
            <a:ext cx="1439456" cy="462981"/>
          </a:xfrm>
          <a:prstGeom prst="rect">
            <a:avLst/>
          </a:prstGeom>
        </p:spPr>
      </p:pic>
      <p:pic>
        <p:nvPicPr>
          <p:cNvPr id="26" name="Picture 25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8F18F6BF-F76A-A3C0-DF78-D2DA2C67307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933341" y="6193892"/>
            <a:ext cx="743589" cy="664108"/>
          </a:xfrm>
          <a:prstGeom prst="rect">
            <a:avLst/>
          </a:prstGeom>
        </p:spPr>
      </p:pic>
      <p:pic>
        <p:nvPicPr>
          <p:cNvPr id="27" name="Picture 26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C88FBD6E-736F-2610-C779-A371BC40D2B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504584" y="6235607"/>
            <a:ext cx="743589" cy="664108"/>
          </a:xfrm>
          <a:prstGeom prst="rect">
            <a:avLst/>
          </a:prstGeom>
        </p:spPr>
      </p:pic>
      <p:pic>
        <p:nvPicPr>
          <p:cNvPr id="28" name="Picture 27" descr="A logo with palm trees&#10;&#10;AI-generated content may be incorrect.">
            <a:extLst>
              <a:ext uri="{FF2B5EF4-FFF2-40B4-BE49-F238E27FC236}">
                <a16:creationId xmlns:a16="http://schemas.microsoft.com/office/drawing/2014/main" id="{94C73437-7005-36FD-6C1F-E9CFF6FEAD9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5736692"/>
            <a:ext cx="1056346" cy="914400"/>
          </a:xfrm>
          <a:prstGeom prst="rect">
            <a:avLst/>
          </a:prstGeom>
        </p:spPr>
      </p:pic>
      <p:pic>
        <p:nvPicPr>
          <p:cNvPr id="31" name="Picture 30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4AD30BD9-6A06-7B82-D553-958C6C51355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1010806" y="5593532"/>
            <a:ext cx="1438602" cy="128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5059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A yellow and orange striped pattern&#10;&#10;AI-generated content may be incorrect.">
            <a:extLst>
              <a:ext uri="{FF2B5EF4-FFF2-40B4-BE49-F238E27FC236}">
                <a16:creationId xmlns:a16="http://schemas.microsoft.com/office/drawing/2014/main" id="{EE5F0F56-5C6C-BA3E-E484-C2E84FB379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58BFC4-4E31-2888-F812-62A2B962DF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rgbClr val="EB8325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1F95820-6C20-4F94-DDD8-E825B362F33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94316" y="1347708"/>
            <a:ext cx="11381889" cy="1759156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E7187696-4112-ED8D-1C60-7ADC2672CE52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92451" y="3209036"/>
            <a:ext cx="3739363" cy="2561527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233FA28F-BE9A-BE71-1D57-A205E28D420D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32426" y="3198522"/>
            <a:ext cx="3739363" cy="2561527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275704D-EFE8-1909-BFE1-CAC28334142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212438" y="3207677"/>
            <a:ext cx="3739363" cy="2561527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pic>
        <p:nvPicPr>
          <p:cNvPr id="18" name="Picture 17" descr="A group of palm trees&#10;&#10;AI-generated content may be incorrect.">
            <a:extLst>
              <a:ext uri="{FF2B5EF4-FFF2-40B4-BE49-F238E27FC236}">
                <a16:creationId xmlns:a16="http://schemas.microsoft.com/office/drawing/2014/main" id="{FD4A327D-01C2-42F8-1197-CB099268185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6395019"/>
            <a:ext cx="1439456" cy="462981"/>
          </a:xfrm>
          <a:prstGeom prst="rect">
            <a:avLst/>
          </a:prstGeom>
        </p:spPr>
      </p:pic>
      <p:pic>
        <p:nvPicPr>
          <p:cNvPr id="19" name="Picture 18" descr="A group of palm trees&#10;&#10;AI-generated content may be incorrect.">
            <a:extLst>
              <a:ext uri="{FF2B5EF4-FFF2-40B4-BE49-F238E27FC236}">
                <a16:creationId xmlns:a16="http://schemas.microsoft.com/office/drawing/2014/main" id="{4B2C86C7-8A32-B186-8BB5-A2F5A590BA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5877" y="6395018"/>
            <a:ext cx="1439456" cy="462981"/>
          </a:xfrm>
          <a:prstGeom prst="rect">
            <a:avLst/>
          </a:prstGeom>
        </p:spPr>
      </p:pic>
      <p:pic>
        <p:nvPicPr>
          <p:cNvPr id="20" name="Picture 19" descr="A group of palm trees&#10;&#10;AI-generated content may be incorrect.">
            <a:extLst>
              <a:ext uri="{FF2B5EF4-FFF2-40B4-BE49-F238E27FC236}">
                <a16:creationId xmlns:a16="http://schemas.microsoft.com/office/drawing/2014/main" id="{4085A424-F0CF-9351-E281-761E44BC6C5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0955" y="6395020"/>
            <a:ext cx="1439456" cy="462981"/>
          </a:xfrm>
          <a:prstGeom prst="rect">
            <a:avLst/>
          </a:prstGeom>
        </p:spPr>
      </p:pic>
      <p:pic>
        <p:nvPicPr>
          <p:cNvPr id="21" name="Picture 20" descr="A group of palm trees&#10;&#10;AI-generated content may be incorrect.">
            <a:extLst>
              <a:ext uri="{FF2B5EF4-FFF2-40B4-BE49-F238E27FC236}">
                <a16:creationId xmlns:a16="http://schemas.microsoft.com/office/drawing/2014/main" id="{148497F2-8F12-E105-915C-C80E8F674B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4710" y="6395019"/>
            <a:ext cx="1439456" cy="462981"/>
          </a:xfrm>
          <a:prstGeom prst="rect">
            <a:avLst/>
          </a:prstGeom>
        </p:spPr>
      </p:pic>
      <p:pic>
        <p:nvPicPr>
          <p:cNvPr id="22" name="Picture 21" descr="A group of palm trees&#10;&#10;AI-generated content may be incorrect.">
            <a:extLst>
              <a:ext uri="{FF2B5EF4-FFF2-40B4-BE49-F238E27FC236}">
                <a16:creationId xmlns:a16="http://schemas.microsoft.com/office/drawing/2014/main" id="{23C575EF-80EF-AAAB-3D93-33C46167058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9511" y="6267311"/>
            <a:ext cx="1836510" cy="590688"/>
          </a:xfrm>
          <a:prstGeom prst="rect">
            <a:avLst/>
          </a:prstGeom>
        </p:spPr>
      </p:pic>
      <p:pic>
        <p:nvPicPr>
          <p:cNvPr id="23" name="Picture 22" descr="A group of palm trees&#10;&#10;AI-generated content may be incorrect.">
            <a:extLst>
              <a:ext uri="{FF2B5EF4-FFF2-40B4-BE49-F238E27FC236}">
                <a16:creationId xmlns:a16="http://schemas.microsoft.com/office/drawing/2014/main" id="{9D78E65B-9A46-182D-B373-8A8FD0C6348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1366" y="6395019"/>
            <a:ext cx="1439456" cy="462981"/>
          </a:xfrm>
          <a:prstGeom prst="rect">
            <a:avLst/>
          </a:prstGeom>
        </p:spPr>
      </p:pic>
      <p:pic>
        <p:nvPicPr>
          <p:cNvPr id="24" name="Picture 23" descr="A group of palm trees&#10;&#10;AI-generated content may be incorrect.">
            <a:extLst>
              <a:ext uri="{FF2B5EF4-FFF2-40B4-BE49-F238E27FC236}">
                <a16:creationId xmlns:a16="http://schemas.microsoft.com/office/drawing/2014/main" id="{3F998BFD-2CCB-6D05-4968-39884BF7E4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30621" y="6395020"/>
            <a:ext cx="1439456" cy="462981"/>
          </a:xfrm>
          <a:prstGeom prst="rect">
            <a:avLst/>
          </a:prstGeom>
        </p:spPr>
      </p:pic>
      <p:pic>
        <p:nvPicPr>
          <p:cNvPr id="25" name="Picture 24" descr="A group of palm trees&#10;&#10;AI-generated content may be incorrect.">
            <a:extLst>
              <a:ext uri="{FF2B5EF4-FFF2-40B4-BE49-F238E27FC236}">
                <a16:creationId xmlns:a16="http://schemas.microsoft.com/office/drawing/2014/main" id="{589FD318-9592-F90B-A501-36985776C34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0194" y="6395019"/>
            <a:ext cx="1439456" cy="462981"/>
          </a:xfrm>
          <a:prstGeom prst="rect">
            <a:avLst/>
          </a:prstGeom>
        </p:spPr>
      </p:pic>
      <p:pic>
        <p:nvPicPr>
          <p:cNvPr id="26" name="Picture 25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451B5D49-4669-7559-8490-7169F3D0537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933341" y="6193892"/>
            <a:ext cx="743589" cy="664108"/>
          </a:xfrm>
          <a:prstGeom prst="rect">
            <a:avLst/>
          </a:prstGeom>
        </p:spPr>
      </p:pic>
      <p:pic>
        <p:nvPicPr>
          <p:cNvPr id="27" name="Picture 26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55450B5B-1973-2F3E-9628-985A2230B60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504584" y="6235607"/>
            <a:ext cx="743589" cy="664108"/>
          </a:xfrm>
          <a:prstGeom prst="rect">
            <a:avLst/>
          </a:prstGeom>
        </p:spPr>
      </p:pic>
      <p:pic>
        <p:nvPicPr>
          <p:cNvPr id="28" name="Picture 27" descr="A logo with palm trees&#10;&#10;AI-generated content may be incorrect.">
            <a:extLst>
              <a:ext uri="{FF2B5EF4-FFF2-40B4-BE49-F238E27FC236}">
                <a16:creationId xmlns:a16="http://schemas.microsoft.com/office/drawing/2014/main" id="{38FA3BAA-647C-4D0C-EBF3-4B9A0E3573F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5736692"/>
            <a:ext cx="1056346" cy="914400"/>
          </a:xfrm>
          <a:prstGeom prst="rect">
            <a:avLst/>
          </a:prstGeom>
        </p:spPr>
      </p:pic>
      <p:pic>
        <p:nvPicPr>
          <p:cNvPr id="32" name="Picture 31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0458990D-2F29-D0E5-9AA6-30B8E6CF5F4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1010806" y="5593532"/>
            <a:ext cx="1438602" cy="128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6502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Subtitle 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A yellow and orange striped pattern&#10;&#10;AI-generated content may be incorrect.">
            <a:extLst>
              <a:ext uri="{FF2B5EF4-FFF2-40B4-BE49-F238E27FC236}">
                <a16:creationId xmlns:a16="http://schemas.microsoft.com/office/drawing/2014/main" id="{3D128E13-C890-826B-C339-4BCC5D5EE0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DF1874-DFE4-A1C9-9DBD-34D1F411A5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rgbClr val="EB8325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70F513F-4F4E-BFBF-DE4B-21F592BBC76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056199" y="1347708"/>
            <a:ext cx="6036643" cy="4421495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B14CE42-4C50-3788-F472-3BF58358B155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394316" y="1347708"/>
            <a:ext cx="2570148" cy="2162873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7433F95-E050-2FC7-892D-F468C8DB83D4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94316" y="3578624"/>
            <a:ext cx="2570148" cy="2162873"/>
          </a:xfrm>
        </p:spPr>
        <p:txBody>
          <a:bodyPr/>
          <a:lstStyle>
            <a:lvl1pPr>
              <a:defRPr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40198F9-6632-99BA-A505-76ECD1470727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9206057" y="1347708"/>
            <a:ext cx="2570148" cy="2162873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2610093-46F8-9D87-110A-7D7D72C35237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9206057" y="3578624"/>
            <a:ext cx="2570148" cy="2162873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pic>
        <p:nvPicPr>
          <p:cNvPr id="19" name="Picture 18" descr="A group of palm trees&#10;&#10;AI-generated content may be incorrect.">
            <a:extLst>
              <a:ext uri="{FF2B5EF4-FFF2-40B4-BE49-F238E27FC236}">
                <a16:creationId xmlns:a16="http://schemas.microsoft.com/office/drawing/2014/main" id="{EB89883F-4511-9F30-E141-EBAA3A05561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6395019"/>
            <a:ext cx="1439456" cy="462981"/>
          </a:xfrm>
          <a:prstGeom prst="rect">
            <a:avLst/>
          </a:prstGeom>
        </p:spPr>
      </p:pic>
      <p:pic>
        <p:nvPicPr>
          <p:cNvPr id="20" name="Picture 19" descr="A group of palm trees&#10;&#10;AI-generated content may be incorrect.">
            <a:extLst>
              <a:ext uri="{FF2B5EF4-FFF2-40B4-BE49-F238E27FC236}">
                <a16:creationId xmlns:a16="http://schemas.microsoft.com/office/drawing/2014/main" id="{C830511A-60D2-ACC9-E713-49C2DC2CCB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5877" y="6395018"/>
            <a:ext cx="1439456" cy="462981"/>
          </a:xfrm>
          <a:prstGeom prst="rect">
            <a:avLst/>
          </a:prstGeom>
        </p:spPr>
      </p:pic>
      <p:pic>
        <p:nvPicPr>
          <p:cNvPr id="21" name="Picture 20" descr="A group of palm trees&#10;&#10;AI-generated content may be incorrect.">
            <a:extLst>
              <a:ext uri="{FF2B5EF4-FFF2-40B4-BE49-F238E27FC236}">
                <a16:creationId xmlns:a16="http://schemas.microsoft.com/office/drawing/2014/main" id="{0A29DF73-46A0-CA48-57DB-7E1667701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0955" y="6395020"/>
            <a:ext cx="1439456" cy="462981"/>
          </a:xfrm>
          <a:prstGeom prst="rect">
            <a:avLst/>
          </a:prstGeom>
        </p:spPr>
      </p:pic>
      <p:pic>
        <p:nvPicPr>
          <p:cNvPr id="22" name="Picture 21" descr="A group of palm trees&#10;&#10;AI-generated content may be incorrect.">
            <a:extLst>
              <a:ext uri="{FF2B5EF4-FFF2-40B4-BE49-F238E27FC236}">
                <a16:creationId xmlns:a16="http://schemas.microsoft.com/office/drawing/2014/main" id="{7892B5F4-BF13-49DE-A6CD-2CDA395037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4710" y="6395019"/>
            <a:ext cx="1439456" cy="462981"/>
          </a:xfrm>
          <a:prstGeom prst="rect">
            <a:avLst/>
          </a:prstGeom>
        </p:spPr>
      </p:pic>
      <p:pic>
        <p:nvPicPr>
          <p:cNvPr id="23" name="Picture 22" descr="A group of palm trees&#10;&#10;AI-generated content may be incorrect.">
            <a:extLst>
              <a:ext uri="{FF2B5EF4-FFF2-40B4-BE49-F238E27FC236}">
                <a16:creationId xmlns:a16="http://schemas.microsoft.com/office/drawing/2014/main" id="{CAD1D045-C1F3-F5C2-F905-B4FA4F88A3A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9511" y="6267311"/>
            <a:ext cx="1836510" cy="590688"/>
          </a:xfrm>
          <a:prstGeom prst="rect">
            <a:avLst/>
          </a:prstGeom>
        </p:spPr>
      </p:pic>
      <p:pic>
        <p:nvPicPr>
          <p:cNvPr id="24" name="Picture 23" descr="A group of palm trees&#10;&#10;AI-generated content may be incorrect.">
            <a:extLst>
              <a:ext uri="{FF2B5EF4-FFF2-40B4-BE49-F238E27FC236}">
                <a16:creationId xmlns:a16="http://schemas.microsoft.com/office/drawing/2014/main" id="{6B5A5E7F-2738-0BCE-AB82-FE4E9C6E22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1366" y="6395019"/>
            <a:ext cx="1439456" cy="462981"/>
          </a:xfrm>
          <a:prstGeom prst="rect">
            <a:avLst/>
          </a:prstGeom>
        </p:spPr>
      </p:pic>
      <p:pic>
        <p:nvPicPr>
          <p:cNvPr id="25" name="Picture 24" descr="A group of palm trees&#10;&#10;AI-generated content may be incorrect.">
            <a:extLst>
              <a:ext uri="{FF2B5EF4-FFF2-40B4-BE49-F238E27FC236}">
                <a16:creationId xmlns:a16="http://schemas.microsoft.com/office/drawing/2014/main" id="{49984593-07D6-8CCF-BE32-CF600E3805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30621" y="6395020"/>
            <a:ext cx="1439456" cy="462981"/>
          </a:xfrm>
          <a:prstGeom prst="rect">
            <a:avLst/>
          </a:prstGeom>
        </p:spPr>
      </p:pic>
      <p:pic>
        <p:nvPicPr>
          <p:cNvPr id="26" name="Picture 25" descr="A group of palm trees&#10;&#10;AI-generated content may be incorrect.">
            <a:extLst>
              <a:ext uri="{FF2B5EF4-FFF2-40B4-BE49-F238E27FC236}">
                <a16:creationId xmlns:a16="http://schemas.microsoft.com/office/drawing/2014/main" id="{19007813-346E-7765-29D9-F065B4B3D7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0194" y="6395019"/>
            <a:ext cx="1439456" cy="462981"/>
          </a:xfrm>
          <a:prstGeom prst="rect">
            <a:avLst/>
          </a:prstGeom>
        </p:spPr>
      </p:pic>
      <p:pic>
        <p:nvPicPr>
          <p:cNvPr id="27" name="Picture 26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E40F55EF-68E8-14FE-9AA1-32B5D521751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933341" y="6193892"/>
            <a:ext cx="743589" cy="664108"/>
          </a:xfrm>
          <a:prstGeom prst="rect">
            <a:avLst/>
          </a:prstGeom>
        </p:spPr>
      </p:pic>
      <p:pic>
        <p:nvPicPr>
          <p:cNvPr id="28" name="Picture 27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331FD0C9-3438-796E-D4F5-BF1D709CFFF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504584" y="6235607"/>
            <a:ext cx="743589" cy="664108"/>
          </a:xfrm>
          <a:prstGeom prst="rect">
            <a:avLst/>
          </a:prstGeom>
        </p:spPr>
      </p:pic>
      <p:pic>
        <p:nvPicPr>
          <p:cNvPr id="29" name="Picture 28" descr="A logo with palm trees&#10;&#10;AI-generated content may be incorrect.">
            <a:extLst>
              <a:ext uri="{FF2B5EF4-FFF2-40B4-BE49-F238E27FC236}">
                <a16:creationId xmlns:a16="http://schemas.microsoft.com/office/drawing/2014/main" id="{DDDDD07E-3565-8873-084B-C77239C6204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5736692"/>
            <a:ext cx="1056346" cy="914400"/>
          </a:xfrm>
          <a:prstGeom prst="rect">
            <a:avLst/>
          </a:prstGeom>
        </p:spPr>
      </p:pic>
      <p:pic>
        <p:nvPicPr>
          <p:cNvPr id="33" name="Picture 32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678A9E31-FB2C-29D9-4FF7-A25059DC38C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1010806" y="5593532"/>
            <a:ext cx="1438602" cy="128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4329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 descr="A yellow and orange striped pattern&#10;&#10;AI-generated content may be incorrect.">
            <a:extLst>
              <a:ext uri="{FF2B5EF4-FFF2-40B4-BE49-F238E27FC236}">
                <a16:creationId xmlns:a16="http://schemas.microsoft.com/office/drawing/2014/main" id="{88305C18-BB61-3809-F890-03E6E1C881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81" y="266854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82943D-7B16-B6C5-5304-D5B0ED879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rgbClr val="EB8325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2854EEB-977D-57C9-827F-0F27D4A454D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94316" y="1347708"/>
            <a:ext cx="4301971" cy="4449802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A482B45-889F-5142-BC0F-D45E525DF049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4810926" y="1352141"/>
            <a:ext cx="2570148" cy="2176720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7CDB073-0680-7F55-1F46-B744F046286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810926" y="3633699"/>
            <a:ext cx="2570148" cy="2126078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525C6F3-1234-EE7F-022F-A09807F53B3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78697" y="1347708"/>
            <a:ext cx="4301971" cy="4449802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8" name="Picture 17" descr="A group of palm trees&#10;&#10;AI-generated content may be incorrect.">
            <a:extLst>
              <a:ext uri="{FF2B5EF4-FFF2-40B4-BE49-F238E27FC236}">
                <a16:creationId xmlns:a16="http://schemas.microsoft.com/office/drawing/2014/main" id="{C18FAB56-B847-6859-6FF9-6CE3C2CE5A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6395019"/>
            <a:ext cx="1439456" cy="462981"/>
          </a:xfrm>
          <a:prstGeom prst="rect">
            <a:avLst/>
          </a:prstGeom>
        </p:spPr>
      </p:pic>
      <p:pic>
        <p:nvPicPr>
          <p:cNvPr id="19" name="Picture 18" descr="A group of palm trees&#10;&#10;AI-generated content may be incorrect.">
            <a:extLst>
              <a:ext uri="{FF2B5EF4-FFF2-40B4-BE49-F238E27FC236}">
                <a16:creationId xmlns:a16="http://schemas.microsoft.com/office/drawing/2014/main" id="{A30D02E0-E36D-A8E1-FC43-C2240AFEDB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5877" y="6395018"/>
            <a:ext cx="1439456" cy="462981"/>
          </a:xfrm>
          <a:prstGeom prst="rect">
            <a:avLst/>
          </a:prstGeom>
        </p:spPr>
      </p:pic>
      <p:pic>
        <p:nvPicPr>
          <p:cNvPr id="20" name="Picture 19" descr="A group of palm trees&#10;&#10;AI-generated content may be incorrect.">
            <a:extLst>
              <a:ext uri="{FF2B5EF4-FFF2-40B4-BE49-F238E27FC236}">
                <a16:creationId xmlns:a16="http://schemas.microsoft.com/office/drawing/2014/main" id="{86E54885-0600-8213-5B95-A239C22C43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0955" y="6395020"/>
            <a:ext cx="1439456" cy="462981"/>
          </a:xfrm>
          <a:prstGeom prst="rect">
            <a:avLst/>
          </a:prstGeom>
        </p:spPr>
      </p:pic>
      <p:pic>
        <p:nvPicPr>
          <p:cNvPr id="21" name="Picture 20" descr="A group of palm trees&#10;&#10;AI-generated content may be incorrect.">
            <a:extLst>
              <a:ext uri="{FF2B5EF4-FFF2-40B4-BE49-F238E27FC236}">
                <a16:creationId xmlns:a16="http://schemas.microsoft.com/office/drawing/2014/main" id="{47E444B5-7DE9-8D8B-12A4-499DE75E5E6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4710" y="6395019"/>
            <a:ext cx="1439456" cy="462981"/>
          </a:xfrm>
          <a:prstGeom prst="rect">
            <a:avLst/>
          </a:prstGeom>
        </p:spPr>
      </p:pic>
      <p:pic>
        <p:nvPicPr>
          <p:cNvPr id="22" name="Picture 21" descr="A group of palm trees&#10;&#10;AI-generated content may be incorrect.">
            <a:extLst>
              <a:ext uri="{FF2B5EF4-FFF2-40B4-BE49-F238E27FC236}">
                <a16:creationId xmlns:a16="http://schemas.microsoft.com/office/drawing/2014/main" id="{7B61BDA7-AF27-582F-4E2A-9CC8D339B5A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9511" y="6267311"/>
            <a:ext cx="1836510" cy="590688"/>
          </a:xfrm>
          <a:prstGeom prst="rect">
            <a:avLst/>
          </a:prstGeom>
        </p:spPr>
      </p:pic>
      <p:pic>
        <p:nvPicPr>
          <p:cNvPr id="23" name="Picture 22" descr="A group of palm trees&#10;&#10;AI-generated content may be incorrect.">
            <a:extLst>
              <a:ext uri="{FF2B5EF4-FFF2-40B4-BE49-F238E27FC236}">
                <a16:creationId xmlns:a16="http://schemas.microsoft.com/office/drawing/2014/main" id="{27F99866-7962-7B30-4558-881BA0A9A3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1366" y="6395019"/>
            <a:ext cx="1439456" cy="462981"/>
          </a:xfrm>
          <a:prstGeom prst="rect">
            <a:avLst/>
          </a:prstGeom>
        </p:spPr>
      </p:pic>
      <p:pic>
        <p:nvPicPr>
          <p:cNvPr id="24" name="Picture 23" descr="A group of palm trees&#10;&#10;AI-generated content may be incorrect.">
            <a:extLst>
              <a:ext uri="{FF2B5EF4-FFF2-40B4-BE49-F238E27FC236}">
                <a16:creationId xmlns:a16="http://schemas.microsoft.com/office/drawing/2014/main" id="{FB52DA80-189C-315F-1A35-454B9DAD6B3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30621" y="6395020"/>
            <a:ext cx="1439456" cy="462981"/>
          </a:xfrm>
          <a:prstGeom prst="rect">
            <a:avLst/>
          </a:prstGeom>
        </p:spPr>
      </p:pic>
      <p:pic>
        <p:nvPicPr>
          <p:cNvPr id="25" name="Picture 24" descr="A group of palm trees&#10;&#10;AI-generated content may be incorrect.">
            <a:extLst>
              <a:ext uri="{FF2B5EF4-FFF2-40B4-BE49-F238E27FC236}">
                <a16:creationId xmlns:a16="http://schemas.microsoft.com/office/drawing/2014/main" id="{8A9199C6-B923-8E7A-DC3C-D8FD1B23B4C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0194" y="6395019"/>
            <a:ext cx="1439456" cy="462981"/>
          </a:xfrm>
          <a:prstGeom prst="rect">
            <a:avLst/>
          </a:prstGeom>
        </p:spPr>
      </p:pic>
      <p:pic>
        <p:nvPicPr>
          <p:cNvPr id="26" name="Picture 25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54455CE6-1EA4-80D0-472D-0F0C6841C5F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933341" y="6193892"/>
            <a:ext cx="743589" cy="664108"/>
          </a:xfrm>
          <a:prstGeom prst="rect">
            <a:avLst/>
          </a:prstGeom>
        </p:spPr>
      </p:pic>
      <p:pic>
        <p:nvPicPr>
          <p:cNvPr id="27" name="Picture 26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3E24C39F-348E-3665-8732-ECF3C1D8A92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504584" y="6235607"/>
            <a:ext cx="743589" cy="664108"/>
          </a:xfrm>
          <a:prstGeom prst="rect">
            <a:avLst/>
          </a:prstGeom>
        </p:spPr>
      </p:pic>
      <p:pic>
        <p:nvPicPr>
          <p:cNvPr id="28" name="Picture 27" descr="A logo with palm trees&#10;&#10;AI-generated content may be incorrect.">
            <a:extLst>
              <a:ext uri="{FF2B5EF4-FFF2-40B4-BE49-F238E27FC236}">
                <a16:creationId xmlns:a16="http://schemas.microsoft.com/office/drawing/2014/main" id="{95F824F4-4126-CF58-32D3-51E24C5A3AB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2" y="5736692"/>
            <a:ext cx="1056346" cy="914400"/>
          </a:xfrm>
          <a:prstGeom prst="rect">
            <a:avLst/>
          </a:prstGeom>
        </p:spPr>
      </p:pic>
      <p:pic>
        <p:nvPicPr>
          <p:cNvPr id="42" name="Picture 41" descr="A green palm tree on a black background&#10;&#10;AI-generated content may be incorrect.">
            <a:extLst>
              <a:ext uri="{FF2B5EF4-FFF2-40B4-BE49-F238E27FC236}">
                <a16:creationId xmlns:a16="http://schemas.microsoft.com/office/drawing/2014/main" id="{BBB42FED-3A6F-DE60-09A9-02B19D38B84A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1010806" y="5593532"/>
            <a:ext cx="1438602" cy="128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4749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Subtitle_Du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B8D8D9E-103B-EBBB-911B-4955F18A0C0C}"/>
              </a:ext>
            </a:extLst>
          </p:cNvPr>
          <p:cNvSpPr/>
          <p:nvPr userDrawn="1"/>
        </p:nvSpPr>
        <p:spPr>
          <a:xfrm>
            <a:off x="302579" y="266855"/>
            <a:ext cx="11586839" cy="659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82943D-7B16-B6C5-5304-D5B0ED879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316" y="367259"/>
            <a:ext cx="11381889" cy="880044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tx1"/>
                </a:solidFill>
                <a:effectLst/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 dirty="0"/>
              <a:t>Assets</a:t>
            </a:r>
          </a:p>
        </p:txBody>
      </p:sp>
    </p:spTree>
    <p:extLst>
      <p:ext uri="{BB962C8B-B14F-4D97-AF65-F5344CB8AC3E}">
        <p14:creationId xmlns:p14="http://schemas.microsoft.com/office/powerpoint/2010/main" val="2408444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C5B7E9-8EA7-88AC-CDDC-5E81BBB88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3C6FC-51FE-80FC-BA42-121E4A268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28646-EEDB-4412-5DEC-0955445A65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AF657A-ACF9-4E40-A2DA-3323CFDC064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4D493-2110-A893-929D-F273EB9DB5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08D4F-B5C1-966A-1FDE-A22812AF25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DF7C2-04DF-C149-BAB4-89733FA27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82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79" r:id="rId2"/>
    <p:sldLayoutId id="214748365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2338FD6E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gpblogster/dynamicscon26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nkedin.com/in/marianogomezben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15000"/>
            <a:ext cx="12188952" cy="11430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806440"/>
            <a:ext cx="457200" cy="54864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8978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FDFBF0"/>
                </a:solidFill>
                <a:latin typeface="Calibri"/>
              </a:rPr>
              <a:t>Multi-Agent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45352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F5C518"/>
                </a:solidFill>
                <a:latin typeface="Calibri"/>
              </a:rPr>
              <a:t>Building an AI workforce with Copilot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109728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>
                <a:solidFill>
                  <a:srgbClr val="F7F5EE"/>
                </a:solidFill>
                <a:latin typeface="Calibri"/>
              </a:rPr>
              <a:t>Mariano Gomez</a:t>
            </a:r>
            <a:r>
              <a:rPr lang="en-US" sz="1100" b="0" i="0" dirty="0">
                <a:solidFill>
                  <a:srgbClr val="F7F5EE"/>
                </a:solidFill>
                <a:latin typeface="Calibri"/>
              </a:rPr>
              <a:t> Bent</a:t>
            </a:r>
            <a:r>
              <a:rPr sz="1100" b="0" i="0" dirty="0">
                <a:solidFill>
                  <a:srgbClr val="F7F5EE"/>
                </a:solidFill>
                <a:latin typeface="Calibri"/>
              </a:rPr>
              <a:t>  /  </a:t>
            </a:r>
            <a:r>
              <a:rPr lang="en-US" sz="1100" b="0" i="0" dirty="0">
                <a:solidFill>
                  <a:srgbClr val="F7F5EE"/>
                </a:solidFill>
                <a:latin typeface="Calibri"/>
              </a:rPr>
              <a:t>Chief Technology Officer @ Mekorma, Inc. / Former Microsoft Business Applications MVP (16x)</a:t>
            </a:r>
            <a:endParaRPr sz="1100" b="0" i="0" dirty="0">
              <a:solidFill>
                <a:srgbClr val="F7F5E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093745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D52E7E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11247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What we will cover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640080" cy="713232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400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5C518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71600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The provocation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737360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Maria's three-window problem, and why one agent is not the answer.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371600"/>
            <a:ext cx="16459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i="0">
                <a:solidFill>
                  <a:srgbClr val="D52E7E"/>
                </a:solidFill>
                <a:latin typeface="Calibri"/>
              </a:rPr>
              <a:t>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76272"/>
            <a:ext cx="640080" cy="713232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176272"/>
            <a:ext cx="6400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5C518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176272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Foundations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542032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Orchestration vs choreography, and where this lives in Copilot Studio.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2176272"/>
            <a:ext cx="16459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i="0">
                <a:solidFill>
                  <a:srgbClr val="D52E7E"/>
                </a:solidFill>
                <a:latin typeface="Calibri"/>
              </a:rPr>
              <a:t>5 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80944"/>
            <a:ext cx="640080" cy="713232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980944"/>
            <a:ext cx="6400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5C518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980944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The decision 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346703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When multi-agent is the right answer, and when it is overkill.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2980944"/>
            <a:ext cx="16459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i="0">
                <a:solidFill>
                  <a:srgbClr val="D52E7E"/>
                </a:solidFill>
                <a:latin typeface="Calibri"/>
              </a:rPr>
              <a:t>5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85616"/>
            <a:ext cx="640080" cy="713232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85616"/>
            <a:ext cx="6400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5C518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785616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Three live demos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151376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Single agent, two-agent handoff, full four-agent workforce.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3785616"/>
            <a:ext cx="16459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i="0">
                <a:solidFill>
                  <a:srgbClr val="D52E7E"/>
                </a:solidFill>
                <a:latin typeface="Calibri"/>
              </a:rPr>
              <a:t>35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90288"/>
            <a:ext cx="640080" cy="713232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4590288"/>
            <a:ext cx="6400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5C518"/>
                </a:solidFill>
                <a:latin typeface="Calibr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590288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Patterns and the path forward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956048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Production realities, the mindset shift, Monday-morning actions.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4590288"/>
            <a:ext cx="16459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i="0">
                <a:solidFill>
                  <a:srgbClr val="D52E7E"/>
                </a:solidFill>
                <a:latin typeface="Calibri"/>
              </a:rPr>
              <a:t>10 min</a:t>
            </a:r>
          </a:p>
        </p:txBody>
      </p:sp>
    </p:spTree>
    <p:extLst>
      <p:ext uri="{BB962C8B-B14F-4D97-AF65-F5344CB8AC3E}">
        <p14:creationId xmlns:p14="http://schemas.microsoft.com/office/powerpoint/2010/main" val="829331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D52E7E"/>
                </a:solidFill>
                <a:latin typeface="Calibri"/>
              </a:rPr>
              <a:t>WELCOME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11247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What you walk away with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89204" y="1417320"/>
            <a:ext cx="3657600" cy="3474720"/>
          </a:xfrm>
          <a:prstGeom prst="rect">
            <a:avLst/>
          </a:prstGeom>
          <a:solidFill>
            <a:srgbClr val="F7F5EE"/>
          </a:solidFill>
          <a:ln w="9525">
            <a:solidFill>
              <a:srgbClr val="D8D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89204" y="1417320"/>
            <a:ext cx="3657600" cy="91440"/>
          </a:xfrm>
          <a:prstGeom prst="rect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3524" y="16916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D52E7E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" y="228600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A working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" y="3017520"/>
            <a:ext cx="31089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A four-agent design pattern you can copy on Monday. Orchestrator plus specialists plus a shared knowledge layer, each piece doing one job well.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5676" y="1417320"/>
            <a:ext cx="3657600" cy="3474720"/>
          </a:xfrm>
          <a:prstGeom prst="rect">
            <a:avLst/>
          </a:prstGeom>
          <a:solidFill>
            <a:srgbClr val="F7F5EE"/>
          </a:solidFill>
          <a:ln w="9525">
            <a:solidFill>
              <a:srgbClr val="D8D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65676" y="1417320"/>
            <a:ext cx="3657600" cy="91440"/>
          </a:xfrm>
          <a:prstGeom prst="rect">
            <a:avLst/>
          </a:prstGeom>
          <a:solidFill>
            <a:srgbClr val="1B9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39996" y="16916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B95D2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9996" y="228600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A decision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9996" y="3017520"/>
            <a:ext cx="31089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Clear signals for when multi-agent is the right answer, and when one agent or a Power Automate flow is the honest choice. Most teams should not build this yet.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2148" y="1417320"/>
            <a:ext cx="3657600" cy="3474720"/>
          </a:xfrm>
          <a:prstGeom prst="rect">
            <a:avLst/>
          </a:prstGeom>
          <a:solidFill>
            <a:srgbClr val="F7F5EE"/>
          </a:solidFill>
          <a:ln w="9525">
            <a:solidFill>
              <a:srgbClr val="D8D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2148" y="1417320"/>
            <a:ext cx="3657600" cy="91440"/>
          </a:xfrm>
          <a:prstGeom prst="rect">
            <a:avLst/>
          </a:prstGeom>
          <a:solidFill>
            <a:srgbClr val="6CA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6468" y="16916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6CAE39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6468" y="2286000"/>
            <a:ext cx="310896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800" b="1" i="0" dirty="0">
                <a:solidFill>
                  <a:srgbClr val="1A1A1A"/>
                </a:solidFill>
                <a:latin typeface="Calibri"/>
              </a:rPr>
              <a:t>Pre-built Agents</a:t>
            </a:r>
            <a:r>
              <a:rPr sz="1800" b="1" i="0" dirty="0">
                <a:solidFill>
                  <a:srgbClr val="1A1A1A"/>
                </a:solidFill>
                <a:latin typeface="Calibri"/>
              </a:rPr>
              <a:t>, end-to-end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6468" y="3017520"/>
            <a:ext cx="31089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>
                <a:solidFill>
                  <a:srgbClr val="333333"/>
                </a:solidFill>
                <a:latin typeface="Calibri"/>
              </a:rPr>
              <a:t>Three demos showing the architecture under load, with the curtain pulled back on the MCP server, the database, and the Copilot Studio orchestration trace.</a:t>
            </a:r>
          </a:p>
        </p:txBody>
      </p:sp>
    </p:spTree>
    <p:extLst>
      <p:ext uri="{BB962C8B-B14F-4D97-AF65-F5344CB8AC3E}">
        <p14:creationId xmlns:p14="http://schemas.microsoft.com/office/powerpoint/2010/main" val="2568833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D52E7E"/>
                </a:solidFill>
                <a:latin typeface="Calibri"/>
              </a:rPr>
              <a:t>BEAT 1  /  THE PROVOCATION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11247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Meet Maria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5120640" cy="35661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44805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F5C518"/>
                </a:solidFill>
                <a:latin typeface="Calibri"/>
              </a:rPr>
              <a:t>MARIA ESPOSITO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448055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i="0">
                <a:solidFill>
                  <a:srgbClr val="FDFBF0"/>
                </a:solidFill>
                <a:latin typeface="Calibri"/>
              </a:rPr>
              <a:t>Inside Sales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F5C518"/>
                </a:solidFill>
                <a:latin typeface="Calibri"/>
              </a:rPr>
              <a:t>CRONUS USA, Inc.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914400" cy="36576"/>
          </a:xfrm>
          <a:prstGeom prst="rect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4480559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DFBF0"/>
                </a:solidFill>
                <a:latin typeface="Calibri"/>
              </a:rPr>
              <a:t>Runs a team of 8 inside sales reps.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11880"/>
            <a:ext cx="4480559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DFBF0"/>
                </a:solidFill>
                <a:latin typeface="Calibri"/>
              </a:rPr>
              <a:t>Qualifies significant orders.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69080"/>
            <a:ext cx="4480559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DFBF0"/>
                </a:solidFill>
                <a:latin typeface="Calibri"/>
              </a:rPr>
              <a:t>Decides what to commit 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417320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spc="100">
                <a:solidFill>
                  <a:srgbClr val="666666"/>
                </a:solidFill>
                <a:latin typeface="Calibri"/>
              </a:rPr>
              <a:t>The question she answers ten times a 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691640"/>
            <a:ext cx="5760720" cy="1005840"/>
          </a:xfrm>
          <a:prstGeom prst="rect">
            <a:avLst/>
          </a:prstGeom>
          <a:solidFill>
            <a:srgbClr val="F7F5EE"/>
          </a:solidFill>
          <a:ln w="25400">
            <a:solidFill>
              <a:srgbClr val="D52E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1691640"/>
            <a:ext cx="53035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1">
                <a:solidFill>
                  <a:srgbClr val="1A1A1A"/>
                </a:solidFill>
                <a:latin typeface="Calibri"/>
              </a:rPr>
              <a:t>"Can we commit to this order?"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834640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She needs three things she does not have in one place: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3246120"/>
            <a:ext cx="73152" cy="411480"/>
          </a:xfrm>
          <a:prstGeom prst="rect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08192" y="322783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spc="200">
                <a:solidFill>
                  <a:srgbClr val="D52E7E"/>
                </a:solidFill>
                <a:latin typeface="Calibri"/>
              </a:rPr>
              <a:t>CUSTOMER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8192" y="3410712"/>
            <a:ext cx="55961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Who is this really, and what is our history?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3794759"/>
            <a:ext cx="73152" cy="411480"/>
          </a:xfrm>
          <a:prstGeom prst="rect">
            <a:avLst/>
          </a:prstGeom>
          <a:solidFill>
            <a:srgbClr val="1B9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08192" y="377647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spc="200">
                <a:solidFill>
                  <a:srgbClr val="1B95D2"/>
                </a:solidFill>
                <a:latin typeface="Calibri"/>
              </a:rPr>
              <a:t>CREDIT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8192" y="3959351"/>
            <a:ext cx="55961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What is their current standing and exposure?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4343400"/>
            <a:ext cx="73152" cy="411480"/>
          </a:xfrm>
          <a:prstGeom prst="rect">
            <a:avLst/>
          </a:prstGeom>
          <a:solidFill>
            <a:srgbClr val="6CA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08192" y="432511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spc="200">
                <a:solidFill>
                  <a:srgbClr val="6CAE39"/>
                </a:solidFill>
                <a:latin typeface="Calibri"/>
              </a:rPr>
              <a:t>STOCK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8192" y="4507992"/>
            <a:ext cx="55961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Do we have it, and can we ship by the date?</a:t>
            </a:r>
          </a:p>
        </p:txBody>
      </p:sp>
    </p:spTree>
    <p:extLst>
      <p:ext uri="{BB962C8B-B14F-4D97-AF65-F5344CB8AC3E}">
        <p14:creationId xmlns:p14="http://schemas.microsoft.com/office/powerpoint/2010/main" val="2409549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Connector 13"/>
          <p:cNvCxnSpPr/>
          <p:nvPr/>
        </p:nvCxnSpPr>
        <p:spPr>
          <a:xfrm flipV="1">
            <a:off x="1577340" y="3017520"/>
            <a:ext cx="4517136" cy="777240"/>
          </a:xfrm>
          <a:prstGeom prst="line">
            <a:avLst/>
          </a:prstGeom>
          <a:ln w="12700">
            <a:solidFill>
              <a:srgbClr val="CCCC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6094476" y="3017520"/>
            <a:ext cx="4535424" cy="777240"/>
          </a:xfrm>
          <a:prstGeom prst="line">
            <a:avLst/>
          </a:prstGeom>
          <a:ln w="12700">
            <a:solidFill>
              <a:srgbClr val="CCCC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094476" y="1965960"/>
            <a:ext cx="4535424" cy="1051560"/>
          </a:xfrm>
          <a:prstGeom prst="line">
            <a:avLst/>
          </a:prstGeom>
          <a:ln w="12700">
            <a:solidFill>
              <a:srgbClr val="CCCC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094476" y="1691640"/>
            <a:ext cx="2249424" cy="1325880"/>
          </a:xfrm>
          <a:prstGeom prst="line">
            <a:avLst/>
          </a:prstGeom>
          <a:ln w="12700">
            <a:solidFill>
              <a:srgbClr val="CCCC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54780" y="1691640"/>
            <a:ext cx="2139696" cy="1325880"/>
          </a:xfrm>
          <a:prstGeom prst="line">
            <a:avLst/>
          </a:prstGeom>
          <a:ln w="12700">
            <a:solidFill>
              <a:srgbClr val="CCCC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77340" y="1965960"/>
            <a:ext cx="4517136" cy="1051560"/>
          </a:xfrm>
          <a:prstGeom prst="line">
            <a:avLst/>
          </a:prstGeom>
          <a:ln w="12700">
            <a:solidFill>
              <a:srgbClr val="CCCC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D52E7E"/>
                </a:solidFill>
                <a:latin typeface="Calibri"/>
              </a:rPr>
              <a:t>BEAT 1  /  THE PROVOCATION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11247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The trap most teams fall into</a:t>
            </a:r>
          </a:p>
        </p:txBody>
      </p:sp>
      <p:sp>
        <p:nvSpPr>
          <p:cNvPr id="4" name="Oval 3"/>
          <p:cNvSpPr/>
          <p:nvPr/>
        </p:nvSpPr>
        <p:spPr>
          <a:xfrm>
            <a:off x="4814316" y="2377439"/>
            <a:ext cx="2560320" cy="1280160"/>
          </a:xfrm>
          <a:prstGeom prst="ellipse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14316" y="2377439"/>
            <a:ext cx="256032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One agent</a:t>
            </a:r>
          </a:p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for everything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691640" cy="457200"/>
          </a:xfrm>
          <a:prstGeom prst="rect">
            <a:avLst/>
          </a:prstGeom>
          <a:solidFill>
            <a:srgbClr val="F7F5EE"/>
          </a:solidFill>
          <a:ln w="9525">
            <a:solidFill>
              <a:srgbClr val="D8D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Customer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1508760"/>
            <a:ext cx="1691640" cy="457200"/>
          </a:xfrm>
          <a:prstGeom prst="rect">
            <a:avLst/>
          </a:prstGeom>
          <a:solidFill>
            <a:srgbClr val="F7F5EE"/>
          </a:solidFill>
          <a:ln w="9525">
            <a:solidFill>
              <a:srgbClr val="D8D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0" y="150876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Credit logic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794760"/>
            <a:ext cx="1691640" cy="457200"/>
          </a:xfrm>
          <a:prstGeom prst="rect">
            <a:avLst/>
          </a:prstGeom>
          <a:solidFill>
            <a:srgbClr val="F7F5EE"/>
          </a:solidFill>
          <a:ln w="9525">
            <a:solidFill>
              <a:srgbClr val="D8D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79476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Inventory state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84080" y="3794760"/>
            <a:ext cx="1691640" cy="457200"/>
          </a:xfrm>
          <a:prstGeom prst="rect">
            <a:avLst/>
          </a:prstGeom>
          <a:solidFill>
            <a:srgbClr val="F7F5EE"/>
          </a:solidFill>
          <a:ln w="9525">
            <a:solidFill>
              <a:srgbClr val="D8D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80" y="379476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Pricing rules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1234440"/>
            <a:ext cx="1691640" cy="457200"/>
          </a:xfrm>
          <a:prstGeom prst="rect">
            <a:avLst/>
          </a:prstGeom>
          <a:solidFill>
            <a:srgbClr val="F7F5EE"/>
          </a:solidFill>
          <a:ln w="9525">
            <a:solidFill>
              <a:srgbClr val="D8D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08960" y="123444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Disambiguation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1234440"/>
            <a:ext cx="1691640" cy="457200"/>
          </a:xfrm>
          <a:prstGeom prst="rect">
            <a:avLst/>
          </a:prstGeom>
          <a:solidFill>
            <a:srgbClr val="F7F5EE"/>
          </a:solidFill>
          <a:ln w="9525">
            <a:solidFill>
              <a:srgbClr val="D8D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79" y="123444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Recommendation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48056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1">
                <a:solidFill>
                  <a:srgbClr val="1A1A1A"/>
                </a:solidFill>
                <a:latin typeface="Calibri"/>
              </a:rPr>
              <a:t>Looks reasonable. Ships to production. Fails visibly in front of the CFO.</a:t>
            </a:r>
          </a:p>
        </p:txBody>
      </p:sp>
    </p:spTree>
    <p:extLst>
      <p:ext uri="{BB962C8B-B14F-4D97-AF65-F5344CB8AC3E}">
        <p14:creationId xmlns:p14="http://schemas.microsoft.com/office/powerpoint/2010/main" val="3719959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D52E7E"/>
                </a:solidFill>
                <a:latin typeface="Calibri"/>
              </a:rPr>
              <a:t>THE REFRAME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11247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What if AI worked the way human teams actually work?</a:t>
            </a:r>
          </a:p>
        </p:txBody>
      </p:sp>
      <p:sp>
        <p:nvSpPr>
          <p:cNvPr id="4" name="Rectangle 3"/>
          <p:cNvSpPr/>
          <p:nvPr/>
        </p:nvSpPr>
        <p:spPr>
          <a:xfrm>
            <a:off x="489204" y="1600200"/>
            <a:ext cx="3657600" cy="283464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89204" y="1600200"/>
            <a:ext cx="91440" cy="2834640"/>
          </a:xfrm>
          <a:prstGeom prst="rect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3524" y="18288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spc="200">
                <a:solidFill>
                  <a:srgbClr val="D52E7E"/>
                </a:solidFill>
                <a:latin typeface="Calibri"/>
              </a:rPr>
              <a:t>SPECIALISTS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" y="214884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FDFBF0"/>
                </a:solidFill>
                <a:latin typeface="Calibri"/>
              </a:rPr>
              <a:t>Each expert in one 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" y="297180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7F5EE"/>
                </a:solidFill>
                <a:latin typeface="Calibri"/>
              </a:rPr>
              <a:t>Sales knows customers. Finance knows credit. Inventory knows stock. None speaks outside its lane.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5676" y="1600200"/>
            <a:ext cx="3657600" cy="283464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65676" y="1600200"/>
            <a:ext cx="91440" cy="2834640"/>
          </a:xfrm>
          <a:prstGeom prst="rect">
            <a:avLst/>
          </a:prstGeom>
          <a:solidFill>
            <a:srgbClr val="1B9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39996" y="18288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spc="200">
                <a:solidFill>
                  <a:srgbClr val="1B95D2"/>
                </a:solidFill>
                <a:latin typeface="Calibri"/>
              </a:rPr>
              <a:t>COORDINATOR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9996" y="214884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FDFBF0"/>
                </a:solidFill>
                <a:latin typeface="Calibri"/>
              </a:rPr>
              <a:t>One conductor who synthesizes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9996" y="297180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7F5EE"/>
                </a:solidFill>
                <a:latin typeface="Calibri"/>
              </a:rPr>
              <a:t>Decides who to ask. Combines answers. Hands back one coherent recommendation in plain language.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2148" y="1600200"/>
            <a:ext cx="3657600" cy="283464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2148" y="1600200"/>
            <a:ext cx="91440" cy="2834640"/>
          </a:xfrm>
          <a:prstGeom prst="rect">
            <a:avLst/>
          </a:prstGeom>
          <a:solidFill>
            <a:srgbClr val="6CA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6468" y="18288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spc="200">
                <a:solidFill>
                  <a:srgbClr val="6CAE39"/>
                </a:solidFill>
                <a:latin typeface="Calibri"/>
              </a:rPr>
              <a:t>SHARED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6468" y="214884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FDFBF0"/>
                </a:solidFill>
                <a:latin typeface="Calibri"/>
              </a:rPr>
              <a:t>Common ground across the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6468" y="297180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7F5EE"/>
                </a:solidFill>
                <a:latin typeface="Calibri"/>
              </a:rPr>
              <a:t>All specialists draw from the same well of structured business knowledge. Nobody is working from a stale copy.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7200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1">
                <a:solidFill>
                  <a:srgbClr val="666666"/>
                </a:solidFill>
                <a:latin typeface="Calibri"/>
              </a:rPr>
              <a:t>This is multi-agent orchestration. Three ideas. Nothing more.</a:t>
            </a:r>
          </a:p>
        </p:txBody>
      </p:sp>
    </p:spTree>
    <p:extLst>
      <p:ext uri="{BB962C8B-B14F-4D97-AF65-F5344CB8AC3E}">
        <p14:creationId xmlns:p14="http://schemas.microsoft.com/office/powerpoint/2010/main" val="1565747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D52E7E"/>
                </a:solidFill>
                <a:latin typeface="Calibri"/>
              </a:rPr>
              <a:t>BEAT 2  / 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11247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The vocabulary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91440" cy="365760"/>
          </a:xfrm>
          <a:prstGeom prst="rect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51937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spc="200">
                <a:solidFill>
                  <a:srgbClr val="D52E7E"/>
                </a:solidFill>
                <a:latin typeface="Calibri"/>
              </a:rPr>
              <a:t>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519379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An LLM-powered system with a defined purpose, system instructions, and access to tools or knowledge.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417320"/>
            <a:ext cx="91440" cy="365760"/>
          </a:xfrm>
          <a:prstGeom prst="rect">
            <a:avLst/>
          </a:prstGeom>
          <a:solidFill>
            <a:srgbClr val="1B9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56248" y="1417320"/>
            <a:ext cx="51937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spc="200">
                <a:solidFill>
                  <a:srgbClr val="1B95D2"/>
                </a:solidFill>
                <a:latin typeface="Calibri"/>
              </a:rPr>
              <a:t>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6248" y="1828800"/>
            <a:ext cx="519379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One coordinator agent decides which specialists to invoke and synthesizes their outputs. Centralized.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08960"/>
            <a:ext cx="91440" cy="365760"/>
          </a:xfrm>
          <a:prstGeom prst="rect">
            <a:avLst/>
          </a:prstGeom>
          <a:solidFill>
            <a:srgbClr val="6CA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3108960"/>
            <a:ext cx="51937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spc="200">
                <a:solidFill>
                  <a:srgbClr val="6CAE39"/>
                </a:solidFill>
                <a:latin typeface="Calibri"/>
              </a:rPr>
              <a:t>MULTI-AGENT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520440"/>
            <a:ext cx="519379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Two or more agents collaborating on a task. Each has a narrower scope than a single-agent equivalent would.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3108960"/>
            <a:ext cx="91440" cy="365760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56248" y="3108960"/>
            <a:ext cx="51937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spc="200">
                <a:solidFill>
                  <a:srgbClr val="F5C518"/>
                </a:solidFill>
                <a:latin typeface="Calibri"/>
              </a:rPr>
              <a:t>CHOREOGRAPHY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3520440"/>
            <a:ext cx="519379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Specialists hand off directly to each other based on what each just produced. Decentralized.</a:t>
            </a:r>
          </a:p>
        </p:txBody>
      </p:sp>
    </p:spTree>
    <p:extLst>
      <p:ext uri="{BB962C8B-B14F-4D97-AF65-F5344CB8AC3E}">
        <p14:creationId xmlns:p14="http://schemas.microsoft.com/office/powerpoint/2010/main" val="3973873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D52E7E"/>
                </a:solidFill>
                <a:latin typeface="Calibri"/>
              </a:rPr>
              <a:t>BEAT 2  / 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11247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Two topologies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5577840" cy="3017520"/>
          </a:xfrm>
          <a:prstGeom prst="rect">
            <a:avLst/>
          </a:prstGeom>
          <a:solidFill>
            <a:srgbClr val="F7F5EE"/>
          </a:solidFill>
          <a:ln w="9525">
            <a:solidFill>
              <a:srgbClr val="D8D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spc="200">
                <a:solidFill>
                  <a:srgbClr val="D52E7E"/>
                </a:solidFill>
                <a:latin typeface="Calibri"/>
              </a:rPr>
              <a:t>HUB AND SPOKE  /  ORCHESTRATION</a:t>
            </a:r>
          </a:p>
        </p:txBody>
      </p:sp>
      <p:sp>
        <p:nvSpPr>
          <p:cNvPr id="6" name="Oval 5"/>
          <p:cNvSpPr/>
          <p:nvPr/>
        </p:nvSpPr>
        <p:spPr>
          <a:xfrm>
            <a:off x="2811779" y="2103120"/>
            <a:ext cx="868680" cy="868680"/>
          </a:xfrm>
          <a:prstGeom prst="ellipse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11779" y="2103120"/>
            <a:ext cx="8686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Conductor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337560"/>
            <a:ext cx="960120" cy="45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33756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Sales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211580" y="2971800"/>
            <a:ext cx="2034540" cy="365760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766059" y="3337560"/>
            <a:ext cx="960120" cy="45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66059" y="333756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Finance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3246119" y="2971800"/>
            <a:ext cx="1" cy="365760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800599" y="3337560"/>
            <a:ext cx="960120" cy="45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00599" y="333756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Inventory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46120" y="2971800"/>
            <a:ext cx="2034539" cy="365760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4023359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Calibri"/>
              </a:rPr>
              <a:t>Conductor invokes specialists, synthesizes answers, returns one response.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1508760"/>
            <a:ext cx="5577840" cy="3017520"/>
          </a:xfrm>
          <a:prstGeom prst="rect">
            <a:avLst/>
          </a:prstGeom>
          <a:solidFill>
            <a:srgbClr val="F7F5EE"/>
          </a:solidFill>
          <a:ln w="9525">
            <a:solidFill>
              <a:srgbClr val="D8D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59" y="1691639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spc="200">
                <a:solidFill>
                  <a:srgbClr val="1B95D2"/>
                </a:solidFill>
                <a:latin typeface="Calibri"/>
              </a:rPr>
              <a:t>PEER TO PEER  /  CHOREOGRAPHY</a:t>
            </a:r>
          </a:p>
        </p:txBody>
      </p:sp>
      <p:sp>
        <p:nvSpPr>
          <p:cNvPr id="20" name="Oval 19"/>
          <p:cNvSpPr/>
          <p:nvPr/>
        </p:nvSpPr>
        <p:spPr>
          <a:xfrm>
            <a:off x="6583679" y="2788920"/>
            <a:ext cx="960120" cy="5029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79" y="2788920"/>
            <a:ext cx="960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Sales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43800" y="3040379"/>
            <a:ext cx="1074420" cy="0"/>
          </a:xfrm>
          <a:prstGeom prst="line">
            <a:avLst/>
          </a:prstGeom>
          <a:ln w="25400">
            <a:solidFill>
              <a:srgbClr val="1B95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618219" y="2788920"/>
            <a:ext cx="960120" cy="5029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18219" y="2788920"/>
            <a:ext cx="960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Finance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578340" y="3040379"/>
            <a:ext cx="1074419" cy="0"/>
          </a:xfrm>
          <a:prstGeom prst="line">
            <a:avLst/>
          </a:prstGeom>
          <a:ln w="25400">
            <a:solidFill>
              <a:srgbClr val="1B95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0652759" y="2788920"/>
            <a:ext cx="960120" cy="5029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52759" y="2788920"/>
            <a:ext cx="960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Inventory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4023359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Calibri"/>
              </a:rPr>
              <a:t>Each specialist hands off directly to the next. No central conductor.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1A1A1A"/>
                </a:solidFill>
                <a:latin typeface="Calibri"/>
              </a:rPr>
              <a:t>Today we build hub-and-spoke. The trade-offs are real and we will name them in Demo 2.</a:t>
            </a:r>
          </a:p>
        </p:txBody>
      </p:sp>
    </p:spTree>
    <p:extLst>
      <p:ext uri="{BB962C8B-B14F-4D97-AF65-F5344CB8AC3E}">
        <p14:creationId xmlns:p14="http://schemas.microsoft.com/office/powerpoint/2010/main" val="1234448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D52E7E"/>
                </a:solidFill>
                <a:latin typeface="Calibri"/>
              </a:rPr>
              <a:t>BEAT 2  / 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11247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Where this lives in Copilot 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489204" y="1508760"/>
            <a:ext cx="3657600" cy="3200400"/>
          </a:xfrm>
          <a:prstGeom prst="rect">
            <a:avLst/>
          </a:prstGeom>
          <a:solidFill>
            <a:srgbClr val="FFFDF5"/>
          </a:solidFill>
          <a:ln w="9525">
            <a:solidFill>
              <a:srgbClr val="D8D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89204" y="1508760"/>
            <a:ext cx="3657600" cy="91440"/>
          </a:xfrm>
          <a:prstGeom prst="rect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3524" y="17830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spc="200">
                <a:solidFill>
                  <a:srgbClr val="D52E7E"/>
                </a:solidFill>
                <a:latin typeface="Calibri"/>
              </a:rPr>
              <a:t>AGENT SETTINGS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" y="210312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Generative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" y="2926080"/>
            <a:ext cx="31089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The orchestrator decides at runtime which connected agents to invoke. No hardcoded routing. The connected-agent descriptions are the routing logic.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5676" y="1508760"/>
            <a:ext cx="3657600" cy="3200400"/>
          </a:xfrm>
          <a:prstGeom prst="rect">
            <a:avLst/>
          </a:prstGeom>
          <a:solidFill>
            <a:srgbClr val="FFFDF5"/>
          </a:solidFill>
          <a:ln w="9525">
            <a:solidFill>
              <a:srgbClr val="D8D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65676" y="1508760"/>
            <a:ext cx="3657600" cy="91440"/>
          </a:xfrm>
          <a:prstGeom prst="rect">
            <a:avLst/>
          </a:prstGeom>
          <a:solidFill>
            <a:srgbClr val="1B9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39996" y="17830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spc="200">
                <a:solidFill>
                  <a:srgbClr val="1B95D2"/>
                </a:solidFill>
                <a:latin typeface="Calibri"/>
              </a:rPr>
              <a:t>ORCHESTRATOR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9996" y="210312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Connected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9996" y="2926080"/>
            <a:ext cx="31089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Agents that another agent can call as part of its reasoning. The orchestrator sees them as tools. The specialists never see each other directly.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2148" y="1508760"/>
            <a:ext cx="3657600" cy="3200400"/>
          </a:xfrm>
          <a:prstGeom prst="rect">
            <a:avLst/>
          </a:prstGeom>
          <a:solidFill>
            <a:srgbClr val="FFFDF5"/>
          </a:solidFill>
          <a:ln w="9525">
            <a:solidFill>
              <a:srgbClr val="D8D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2148" y="1508760"/>
            <a:ext cx="3657600" cy="91440"/>
          </a:xfrm>
          <a:prstGeom prst="rect">
            <a:avLst/>
          </a:prstGeom>
          <a:solidFill>
            <a:srgbClr val="6CA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6468" y="17830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spc="200">
                <a:solidFill>
                  <a:srgbClr val="6CAE39"/>
                </a:solidFill>
                <a:latin typeface="Calibri"/>
              </a:rPr>
              <a:t>ENVIRONMENT-LEVEL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6468" y="210312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MCP servers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6468" y="2926080"/>
            <a:ext cx="31089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External tool servers all four agents share. Where structured business logic lives. Queryable, typed, deterministic. The third layer of the architecture.</a:t>
            </a:r>
          </a:p>
        </p:txBody>
      </p:sp>
    </p:spTree>
    <p:extLst>
      <p:ext uri="{BB962C8B-B14F-4D97-AF65-F5344CB8AC3E}">
        <p14:creationId xmlns:p14="http://schemas.microsoft.com/office/powerpoint/2010/main" val="1816652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D52E7E"/>
                </a:solidFill>
                <a:latin typeface="Calibri"/>
              </a:rPr>
              <a:t>BEAT 3  /  THE DECISION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11247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When multi-agent is the right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118872" cy="868680"/>
          </a:xfrm>
          <a:prstGeom prst="rect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spc="200">
                <a:solidFill>
                  <a:srgbClr val="558B2F"/>
                </a:solidFill>
                <a:latin typeface="Calibri"/>
              </a:rPr>
              <a:t>YES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55648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Clear domain boundaries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39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The work decomposes naturally into distinct expertise areas with different vocabularies, data sources, and decision rules. Sales, Finance, and Inventory pass this test.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14600"/>
            <a:ext cx="118872" cy="868680"/>
          </a:xfrm>
          <a:prstGeom prst="rect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spc="200">
                <a:solidFill>
                  <a:srgbClr val="558B2F"/>
                </a:solidFill>
                <a:latin typeface="Calibri"/>
              </a:rPr>
              <a:t>YES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61488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Distinct data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Different teams own different data with different access controls. A single agent with all permissions creates an audit nightmare. Multiple specialists with scoped access is cleaner.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20440"/>
            <a:ext cx="118872" cy="868680"/>
          </a:xfrm>
          <a:prstGeom prst="rect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spc="200">
                <a:solidFill>
                  <a:srgbClr val="558B2F"/>
                </a:solidFill>
                <a:latin typeface="Calibri"/>
              </a:rPr>
              <a:t>YES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67328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Independent expertise ownership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Different humans should be able to update different agents independently. If your finance team will never touch the inventory agent's prompt, you have separation.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1772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1A1A1A"/>
                </a:solidFill>
                <a:latin typeface="Calibri"/>
              </a:rPr>
              <a:t>You probably need at least two of three before this is worth the cost.</a:t>
            </a:r>
          </a:p>
        </p:txBody>
      </p:sp>
    </p:spTree>
    <p:extLst>
      <p:ext uri="{BB962C8B-B14F-4D97-AF65-F5344CB8AC3E}">
        <p14:creationId xmlns:p14="http://schemas.microsoft.com/office/powerpoint/2010/main" val="620438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D52E7E"/>
                </a:solidFill>
                <a:latin typeface="Calibri"/>
              </a:rPr>
              <a:t>BEAT 3  /  THE DECISION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11247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When it is overkill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118872" cy="86868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spc="200">
                <a:solidFill>
                  <a:srgbClr val="D32F2F"/>
                </a:solidFill>
                <a:latin typeface="Calibri"/>
              </a:rPr>
              <a:t>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55648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Single linear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39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If the path is deterministic and the same every time, this is Power Automate. Do not bring four agents to a sequence of three steps.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14600"/>
            <a:ext cx="118872" cy="86868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spc="200">
                <a:solidFill>
                  <a:srgbClr val="D32F2F"/>
                </a:solidFill>
                <a:latin typeface="Calibri"/>
              </a:rPr>
              <a:t>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61488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Single domain of expertise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If credit, inventory, and customer policy are all owned by the same team, with the same vocabulary and the same decision rules, you do not need multiple agents. Multi-agent earns its cost when distinct expertise areas need distinct discipline.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20440"/>
            <a:ext cx="118872" cy="86868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spc="200">
                <a:solidFill>
                  <a:srgbClr val="D32F2F"/>
                </a:solidFill>
                <a:latin typeface="Calibri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67328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One owner, one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If the same person maintains all of it, the operational overhead of multiple agents buys you nothing. Coordination is what multi-agent is for. If there is nothing to coordinate, skip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1772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1A1A1A"/>
                </a:solidFill>
                <a:latin typeface="Calibri"/>
              </a:rPr>
              <a:t>Most teams should start with one agent and split only when it hurts.</a:t>
            </a:r>
          </a:p>
        </p:txBody>
      </p:sp>
    </p:spTree>
    <p:extLst>
      <p:ext uri="{BB962C8B-B14F-4D97-AF65-F5344CB8AC3E}">
        <p14:creationId xmlns:p14="http://schemas.microsoft.com/office/powerpoint/2010/main" val="218878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F5C518"/>
                </a:solidFill>
                <a:latin typeface="Calibri"/>
              </a:rPr>
              <a:t>THE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11247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CRONUS USA, Inc.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6583680" cy="35661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spc="200">
                <a:solidFill>
                  <a:srgbClr val="F5C518"/>
                </a:solidFill>
                <a:latin typeface="Calibri"/>
              </a:rPr>
              <a:t>THE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943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FDFBF0"/>
                </a:solidFill>
                <a:latin typeface="Calibri"/>
              </a:rPr>
              <a:t>CRONUS USA,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7F5EE"/>
                </a:solidFill>
                <a:latin typeface="Calibri"/>
              </a:rPr>
              <a:t>Furniture distributor on Business Central. Three warehouses. Mid-market. The CRONUS every BC pro knows.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200400"/>
            <a:ext cx="5943600" cy="18288"/>
          </a:xfrm>
          <a:prstGeom prst="rect">
            <a:avLst/>
          </a:prstGeom>
          <a:solidFill>
            <a:srgbClr val="D8D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spc="200">
                <a:solidFill>
                  <a:srgbClr val="F5C518"/>
                </a:solidFill>
                <a:latin typeface="Calibri"/>
              </a:rPr>
              <a:t>THE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57600"/>
            <a:ext cx="5943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FDFBF0"/>
                </a:solidFill>
                <a:latin typeface="Calibri"/>
              </a:rPr>
              <a:t>"Adatum Corporation wants 500 units of 1900-S PARIS Guest Chair, black, shipping next Friday, on NET-30 terms. Can we commit?"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417320"/>
            <a:ext cx="44165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100">
                <a:solidFill>
                  <a:srgbClr val="666666"/>
                </a:solidFill>
                <a:latin typeface="Calibri"/>
              </a:rPr>
              <a:t>Requires three domains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1783080"/>
            <a:ext cx="4416552" cy="914400"/>
          </a:xfrm>
          <a:prstGeom prst="rect">
            <a:avLst/>
          </a:prstGeom>
          <a:solidFill>
            <a:srgbClr val="F7F5EE"/>
          </a:solidFill>
          <a:ln w="9525">
            <a:solidFill>
              <a:srgbClr val="D8D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0" y="1783080"/>
            <a:ext cx="91440" cy="914400"/>
          </a:xfrm>
          <a:prstGeom prst="rect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43800" y="1920240"/>
            <a:ext cx="405079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D52E7E"/>
                </a:solidFill>
                <a:latin typeface="Calibri"/>
              </a:rPr>
              <a:t>WHO is this customer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240280"/>
            <a:ext cx="405079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Two Adatums in the system. Disambiguate first.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2834639"/>
            <a:ext cx="4416552" cy="914400"/>
          </a:xfrm>
          <a:prstGeom prst="rect">
            <a:avLst/>
          </a:prstGeom>
          <a:solidFill>
            <a:srgbClr val="F7F5EE"/>
          </a:solidFill>
          <a:ln w="9525">
            <a:solidFill>
              <a:srgbClr val="D8D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0" y="2834639"/>
            <a:ext cx="91440" cy="914400"/>
          </a:xfrm>
          <a:prstGeom prst="rect">
            <a:avLst/>
          </a:prstGeom>
          <a:solidFill>
            <a:srgbClr val="1B9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43800" y="2971799"/>
            <a:ext cx="405079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1B95D2"/>
                </a:solidFill>
                <a:latin typeface="Calibri"/>
              </a:rPr>
              <a:t>WHAT is their credit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291839"/>
            <a:ext cx="405079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Limit, balance, threshold, recommendation.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3886200"/>
            <a:ext cx="4416552" cy="914400"/>
          </a:xfrm>
          <a:prstGeom prst="rect">
            <a:avLst/>
          </a:prstGeom>
          <a:solidFill>
            <a:srgbClr val="F7F5EE"/>
          </a:solidFill>
          <a:ln w="9525">
            <a:solidFill>
              <a:srgbClr val="D8D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0" y="3886200"/>
            <a:ext cx="91440" cy="914400"/>
          </a:xfrm>
          <a:prstGeom prst="rect">
            <a:avLst/>
          </a:prstGeom>
          <a:solidFill>
            <a:srgbClr val="6CA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43800" y="4023360"/>
            <a:ext cx="405079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6CAE39"/>
                </a:solidFill>
                <a:latin typeface="Calibri"/>
              </a:rPr>
              <a:t>WHEN can we 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4343400"/>
            <a:ext cx="405079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On-hand by warehouse, inbound by date.</a:t>
            </a:r>
          </a:p>
        </p:txBody>
      </p:sp>
    </p:spTree>
    <p:extLst>
      <p:ext uri="{BB962C8B-B14F-4D97-AF65-F5344CB8AC3E}">
        <p14:creationId xmlns:p14="http://schemas.microsoft.com/office/powerpoint/2010/main" val="2789297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112471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D52E7E"/>
                </a:solidFill>
                <a:latin typeface="Calibri"/>
              </a:rPr>
              <a:t>DEMO 1  /  ~7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200" b="1" i="0">
                <a:solidFill>
                  <a:srgbClr val="1A1A1A"/>
                </a:solidFill>
                <a:latin typeface="Calibri"/>
              </a:rPr>
              <a:t>The Limitation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2471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i="1">
                <a:solidFill>
                  <a:srgbClr val="666666"/>
                </a:solidFill>
                <a:latin typeface="Calibri"/>
              </a:rPr>
              <a:t>One agent. Every tool. Reasonable instructions. Watch what happens when you run the same question three times.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D52E7E"/>
                </a:solidFill>
                <a:latin typeface="Calibri"/>
              </a:rPr>
              <a:t>WATCH FOR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3447288"/>
            <a:ext cx="164592" cy="164592"/>
          </a:xfrm>
          <a:prstGeom prst="ellipse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33832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Which Adatum the agent picks. Or whether it picks at all.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3904488"/>
            <a:ext cx="164592" cy="164592"/>
          </a:xfrm>
          <a:prstGeom prst="ellipse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How confident it sounds about its choice.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4361688"/>
            <a:ext cx="164592" cy="164592"/>
          </a:xfrm>
          <a:prstGeom prst="ellipse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4297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Whether the same prompt produces the same answer on different runs.</a:t>
            </a:r>
          </a:p>
        </p:txBody>
      </p:sp>
    </p:spTree>
    <p:extLst>
      <p:ext uri="{BB962C8B-B14F-4D97-AF65-F5344CB8AC3E}">
        <p14:creationId xmlns:p14="http://schemas.microsoft.com/office/powerpoint/2010/main" val="2012992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74320"/>
            <a:ext cx="11457432" cy="4983480"/>
          </a:xfrm>
          <a:prstGeom prst="rect">
            <a:avLst/>
          </a:prstGeom>
          <a:solidFill>
            <a:srgbClr val="F7F5EE"/>
          </a:solidFill>
          <a:ln w="9525">
            <a:solidFill>
              <a:srgbClr val="D8D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666666"/>
                </a:solidFill>
                <a:latin typeface="Calibri"/>
              </a:rPr>
              <a:t>DEMO 1  /  IN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167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The naive Order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spc="200">
                <a:solidFill>
                  <a:srgbClr val="D52E7E"/>
                </a:solidFill>
                <a:latin typeface="Calibri"/>
              </a:rPr>
              <a:t>THE 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6949440" cy="3108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3108960"/>
          </a:xfrm>
          <a:prstGeom prst="rect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67512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onsolas"/>
              </a:rPr>
              <a:t>Adatum wants 500 units of</a:t>
            </a:r>
          </a:p>
          <a:p>
            <a:pPr algn="l"/>
            <a:r>
              <a:rPr sz="1400" b="0" i="0">
                <a:solidFill>
                  <a:srgbClr val="E2E8F0"/>
                </a:solidFill>
                <a:latin typeface="Consolas"/>
              </a:rPr>
              <a:t>1900-S PARIS Guest Chair, black,</a:t>
            </a:r>
          </a:p>
          <a:p>
            <a:pPr algn="l"/>
            <a:r>
              <a:rPr sz="1400" b="0" i="0">
                <a:solidFill>
                  <a:srgbClr val="E2E8F0"/>
                </a:solidFill>
                <a:latin typeface="Consolas"/>
              </a:rPr>
              <a:t>shipping next Friday,</a:t>
            </a:r>
          </a:p>
          <a:p>
            <a:pPr algn="l"/>
            <a:r>
              <a:rPr sz="1400" b="0" i="0">
                <a:solidFill>
                  <a:srgbClr val="E2E8F0"/>
                </a:solidFill>
                <a:latin typeface="Consolas"/>
              </a:rPr>
              <a:t>on NET-30 terms.</a:t>
            </a:r>
          </a:p>
          <a:p>
            <a:pPr algn="l"/>
            <a:endParaRPr sz="1400" b="0" i="0">
              <a:solidFill>
                <a:srgbClr val="E2E8F0"/>
              </a:solidFill>
              <a:latin typeface="Consolas"/>
            </a:endParaRPr>
          </a:p>
          <a:p>
            <a:pPr algn="l"/>
            <a:r>
              <a:rPr sz="1400" b="0" i="0">
                <a:solidFill>
                  <a:srgbClr val="E2E8F0"/>
                </a:solidFill>
                <a:latin typeface="Consolas"/>
              </a:rPr>
              <a:t>Can we commit?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463040"/>
            <a:ext cx="368503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spc="200">
                <a:solidFill>
                  <a:srgbClr val="D52E7E"/>
                </a:solidFill>
                <a:latin typeface="Calibri"/>
              </a:rPr>
              <a:t>WATCH FOR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1828800"/>
            <a:ext cx="73152" cy="868680"/>
          </a:xfrm>
          <a:prstGeom prst="rect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1828800"/>
            <a:ext cx="3502151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Which Adatum the agent picks (or whether it asks).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2834640"/>
            <a:ext cx="73152" cy="868680"/>
          </a:xfrm>
          <a:prstGeom prst="rect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0" y="2834640"/>
            <a:ext cx="3502151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How confident the answer sounds.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3840480"/>
            <a:ext cx="73152" cy="868680"/>
          </a:xfrm>
          <a:prstGeom prst="rect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3840480"/>
            <a:ext cx="3502151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Whether two runs of this prompt look the same.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394960"/>
            <a:ext cx="11457432" cy="4572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5394960"/>
            <a:ext cx="114574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1">
                <a:solidFill>
                  <a:srgbClr val="CCCCCC"/>
                </a:solidFill>
                <a:latin typeface="Calibri"/>
              </a:rPr>
              <a:t>If the agent stalls or hiccups, hold here. Reread the prompt out loud. Buy time.</a:t>
            </a:r>
          </a:p>
        </p:txBody>
      </p:sp>
    </p:spTree>
    <p:extLst>
      <p:ext uri="{BB962C8B-B14F-4D97-AF65-F5344CB8AC3E}">
        <p14:creationId xmlns:p14="http://schemas.microsoft.com/office/powerpoint/2010/main" val="4018237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D52E7E"/>
                </a:solidFill>
                <a:latin typeface="Calibri"/>
              </a:rPr>
              <a:t>DEMO 1  /  WRAP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11247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Same prompt. Three different answers.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3627120" cy="2926080"/>
          </a:xfrm>
          <a:prstGeom prst="rect">
            <a:avLst/>
          </a:prstGeom>
          <a:solidFill>
            <a:srgbClr val="F7F5EE"/>
          </a:solidFill>
          <a:ln w="12700">
            <a:solidFill>
              <a:srgbClr val="D8D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627120" cy="36576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3169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FFFFF"/>
                </a:solidFill>
                <a:latin typeface="Calibri"/>
              </a:rPr>
              <a:t>RUN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316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Qualified both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06039"/>
            <a:ext cx="31699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Ran the full credit and inventory check against BOTH Adatums in parallel. Returned a side-by-side dashboard. Asked the user to pick.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3977640"/>
            <a:ext cx="548640" cy="0"/>
          </a:xfrm>
          <a:prstGeom prst="line">
            <a:avLst/>
          </a:prstGeom>
          <a:ln w="2540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4114800"/>
            <a:ext cx="316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1">
                <a:solidFill>
                  <a:srgbClr val="D32F2F"/>
                </a:solidFill>
                <a:latin typeface="Calibri"/>
              </a:rPr>
              <a:t>Helpful, but doubled the 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7200" y="1554480"/>
            <a:ext cx="3627120" cy="2926080"/>
          </a:xfrm>
          <a:prstGeom prst="rect">
            <a:avLst/>
          </a:prstGeom>
          <a:solidFill>
            <a:srgbClr val="F7F5EE"/>
          </a:solidFill>
          <a:ln w="12700">
            <a:solidFill>
              <a:srgbClr val="D8D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67200" y="1554480"/>
            <a:ext cx="3627120" cy="36576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95800" y="1554480"/>
            <a:ext cx="3169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FFFFF"/>
                </a:solidFill>
                <a:latin typeface="Calibri"/>
              </a:rPr>
              <a:t>RUN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5800" y="2057400"/>
            <a:ext cx="316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Picked the right 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5800" y="2606039"/>
            <a:ext cx="31699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Committed to Adatum Corporation (10000). Returned a clean qualification. Mentioned the duplicate as a footnote at the end.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495800" y="3977640"/>
            <a:ext cx="548640" cy="0"/>
          </a:xfrm>
          <a:prstGeom prst="line">
            <a:avLst/>
          </a:prstGeom>
          <a:ln w="2540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495800" y="4114800"/>
            <a:ext cx="316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1">
                <a:solidFill>
                  <a:srgbClr val="D32F2F"/>
                </a:solidFill>
                <a:latin typeface="Calibri"/>
              </a:rPr>
              <a:t>Correct, with hedge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77200" y="1554480"/>
            <a:ext cx="3627120" cy="2926080"/>
          </a:xfrm>
          <a:prstGeom prst="rect">
            <a:avLst/>
          </a:prstGeom>
          <a:solidFill>
            <a:srgbClr val="F7F5EE"/>
          </a:solidFill>
          <a:ln w="12700">
            <a:solidFill>
              <a:srgbClr val="D8D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77200" y="1554480"/>
            <a:ext cx="3627120" cy="36576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05800" y="1554480"/>
            <a:ext cx="3169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FFFFF"/>
                </a:solidFill>
                <a:latin typeface="Calibri"/>
              </a:rPr>
              <a:t>RUN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2057400"/>
            <a:ext cx="316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Picked the wrong 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5800" y="2606039"/>
            <a:ext cx="31699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Committed to Adatum Holdings (10095). Confidently produced a credit denial for a customer record that should not exist.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05800" y="3977640"/>
            <a:ext cx="548640" cy="0"/>
          </a:xfrm>
          <a:prstGeom prst="line">
            <a:avLst/>
          </a:prstGeom>
          <a:ln w="2540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305800" y="4114800"/>
            <a:ext cx="316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1">
                <a:solidFill>
                  <a:srgbClr val="D32F2F"/>
                </a:solidFill>
                <a:latin typeface="Calibri"/>
              </a:rPr>
              <a:t>Confidently wrong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754880"/>
            <a:ext cx="11247120" cy="86868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754880"/>
            <a:ext cx="112471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1">
                <a:solidFill>
                  <a:srgbClr val="FDFBF0"/>
                </a:solidFill>
                <a:latin typeface="Calibri"/>
              </a:rPr>
              <a:t>You cannot ship this to Maria. Not because it fails. Because you cannot predict what it will do.</a:t>
            </a:r>
          </a:p>
        </p:txBody>
      </p:sp>
    </p:spTree>
    <p:extLst>
      <p:ext uri="{BB962C8B-B14F-4D97-AF65-F5344CB8AC3E}">
        <p14:creationId xmlns:p14="http://schemas.microsoft.com/office/powerpoint/2010/main" val="2562854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112471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D52E7E"/>
                </a:solidFill>
                <a:latin typeface="Calibri"/>
              </a:rPr>
              <a:t>DEMO 2  /  ~12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200" b="1" i="0">
                <a:solidFill>
                  <a:srgbClr val="1A1A1A"/>
                </a:solidFill>
                <a:latin typeface="Calibri"/>
              </a:rPr>
              <a:t>Specialization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i="1">
                <a:solidFill>
                  <a:srgbClr val="666666"/>
                </a:solidFill>
                <a:latin typeface="Calibri"/>
              </a:rPr>
              <a:t>Sales plus Finance, coordinated by an orchestrator. Inventory still missing on purpose.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D52E7E"/>
                </a:solidFill>
                <a:latin typeface="Calibri"/>
              </a:rPr>
              <a:t>WATCH FOR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3264408"/>
            <a:ext cx="164592" cy="164592"/>
          </a:xfrm>
          <a:prstGeom prst="ellipse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3200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The Sales Specialist disambiguating Adatum without being told how.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3721608"/>
            <a:ext cx="164592" cy="164592"/>
          </a:xfrm>
          <a:prstGeom prst="ellipse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3657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The Order Conductor honestly admitting what it does not know.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4178808"/>
            <a:ext cx="164592" cy="164592"/>
          </a:xfrm>
          <a:prstGeom prst="ellipse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41148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The architectural choice between orchestration and choreography.</a:t>
            </a:r>
          </a:p>
        </p:txBody>
      </p:sp>
    </p:spTree>
    <p:extLst>
      <p:ext uri="{BB962C8B-B14F-4D97-AF65-F5344CB8AC3E}">
        <p14:creationId xmlns:p14="http://schemas.microsoft.com/office/powerpoint/2010/main" val="1904426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74320"/>
            <a:ext cx="11457432" cy="4983480"/>
          </a:xfrm>
          <a:prstGeom prst="rect">
            <a:avLst/>
          </a:prstGeom>
          <a:solidFill>
            <a:srgbClr val="F7F5EE"/>
          </a:solidFill>
          <a:ln w="9525">
            <a:solidFill>
              <a:srgbClr val="D8D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666666"/>
                </a:solidFill>
                <a:latin typeface="Calibri"/>
              </a:rPr>
              <a:t>DEMO 2  /  IN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167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Order Conductor with Sales + Finance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spc="200">
                <a:solidFill>
                  <a:srgbClr val="D52E7E"/>
                </a:solidFill>
                <a:latin typeface="Calibri"/>
              </a:rPr>
              <a:t>THE 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6949440" cy="3108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3108960"/>
          </a:xfrm>
          <a:prstGeom prst="rect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67512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onsolas"/>
              </a:rPr>
              <a:t>Adatum Corporation wants 500 units of</a:t>
            </a:r>
          </a:p>
          <a:p>
            <a:pPr algn="l"/>
            <a:r>
              <a:rPr sz="1400" b="0" i="0">
                <a:solidFill>
                  <a:srgbClr val="E2E8F0"/>
                </a:solidFill>
                <a:latin typeface="Consolas"/>
              </a:rPr>
              <a:t>1900-S PARIS Guest Chair, black,</a:t>
            </a:r>
          </a:p>
          <a:p>
            <a:pPr algn="l"/>
            <a:r>
              <a:rPr sz="1400" b="0" i="0">
                <a:solidFill>
                  <a:srgbClr val="E2E8F0"/>
                </a:solidFill>
                <a:latin typeface="Consolas"/>
              </a:rPr>
              <a:t>shipping next Friday,</a:t>
            </a:r>
          </a:p>
          <a:p>
            <a:pPr algn="l"/>
            <a:r>
              <a:rPr sz="1400" b="0" i="0">
                <a:solidFill>
                  <a:srgbClr val="E2E8F0"/>
                </a:solidFill>
                <a:latin typeface="Consolas"/>
              </a:rPr>
              <a:t>on NET-30 terms.</a:t>
            </a:r>
          </a:p>
          <a:p>
            <a:pPr algn="l"/>
            <a:endParaRPr sz="1400" b="0" i="0">
              <a:solidFill>
                <a:srgbClr val="E2E8F0"/>
              </a:solidFill>
              <a:latin typeface="Consolas"/>
            </a:endParaRPr>
          </a:p>
          <a:p>
            <a:pPr algn="l"/>
            <a:r>
              <a:rPr sz="1400" b="0" i="0">
                <a:solidFill>
                  <a:srgbClr val="E2E8F0"/>
                </a:solidFill>
                <a:latin typeface="Consolas"/>
              </a:rPr>
              <a:t>Can we commit?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463040"/>
            <a:ext cx="368503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spc="200">
                <a:solidFill>
                  <a:srgbClr val="D52E7E"/>
                </a:solidFill>
                <a:latin typeface="Calibri"/>
              </a:rPr>
              <a:t>WATCH FOR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1828800"/>
            <a:ext cx="73152" cy="868680"/>
          </a:xfrm>
          <a:prstGeom prst="rect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1828800"/>
            <a:ext cx="3502151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Sales disambiguating Adatum without being told how.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2834640"/>
            <a:ext cx="73152" cy="868680"/>
          </a:xfrm>
          <a:prstGeom prst="rect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0" y="2834640"/>
            <a:ext cx="3502151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The Conductor admitting Inventory is missing.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3840480"/>
            <a:ext cx="73152" cy="868680"/>
          </a:xfrm>
          <a:prstGeom prst="rect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3840480"/>
            <a:ext cx="3502151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Lane discipline at the boundary.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394960"/>
            <a:ext cx="11457432" cy="4572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5394960"/>
            <a:ext cx="114574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1">
                <a:solidFill>
                  <a:srgbClr val="CCCCCC"/>
                </a:solidFill>
                <a:latin typeface="Calibri"/>
              </a:rPr>
              <a:t>If the agent stalls or hiccups, hold here. Reread the prompt out loud. Buy time.</a:t>
            </a:r>
          </a:p>
        </p:txBody>
      </p:sp>
    </p:spTree>
    <p:extLst>
      <p:ext uri="{BB962C8B-B14F-4D97-AF65-F5344CB8AC3E}">
        <p14:creationId xmlns:p14="http://schemas.microsoft.com/office/powerpoint/2010/main" val="2133737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D52E7E"/>
                </a:solidFill>
                <a:latin typeface="Calibri"/>
              </a:rPr>
              <a:t>DEMO 2  /  WRAP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11247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The architectural decision we just made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5486400" cy="3246120"/>
          </a:xfrm>
          <a:prstGeom prst="rect">
            <a:avLst/>
          </a:prstGeom>
          <a:solidFill>
            <a:srgbClr val="F7F5EE"/>
          </a:solidFill>
          <a:ln w="25400">
            <a:solidFill>
              <a:srgbClr val="D52E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5486400" cy="411480"/>
          </a:xfrm>
          <a:prstGeom prst="rect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200">
                <a:solidFill>
                  <a:srgbClr val="FFFFFF"/>
                </a:solidFill>
                <a:latin typeface="Calibri"/>
              </a:rPr>
              <a:t>OUR CHOICE  /  HUB-AND-SPOKE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Easier to reason about, easier to debug.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807208"/>
            <a:ext cx="109728" cy="109728"/>
          </a:xfrm>
          <a:prstGeom prst="ellipse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Synthesis logic in one place.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218688"/>
            <a:ext cx="109728" cy="109728"/>
          </a:xfrm>
          <a:prstGeom prst="ellipse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15468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Routing decisions are inspectable.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630168"/>
            <a:ext cx="109728" cy="109728"/>
          </a:xfrm>
          <a:prstGeom prst="ellipse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56616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Specialists never need to know about each other.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041648"/>
            <a:ext cx="109728" cy="109728"/>
          </a:xfrm>
          <a:prstGeom prst="ellipse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3977639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Best for stable, well-shaped questions.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508760"/>
            <a:ext cx="5486400" cy="3246120"/>
          </a:xfrm>
          <a:prstGeom prst="rect">
            <a:avLst/>
          </a:prstGeom>
          <a:solidFill>
            <a:srgbClr val="FFFDF5"/>
          </a:solidFill>
          <a:ln w="9525">
            <a:solidFill>
              <a:srgbClr val="D8D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508760"/>
            <a:ext cx="5486400" cy="411480"/>
          </a:xfrm>
          <a:prstGeom prst="rect">
            <a:avLst/>
          </a:prstGeom>
          <a:solidFill>
            <a:srgbClr val="1B9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50876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200">
                <a:solidFill>
                  <a:srgbClr val="FFFFFF"/>
                </a:solidFill>
                <a:latin typeface="Calibri"/>
              </a:rPr>
              <a:t>ALTERNATIVE  /  PEER-TO-PEER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10312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More flexible, harder to trace.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2807208"/>
            <a:ext cx="109728" cy="109728"/>
          </a:xfrm>
          <a:prstGeom prst="ellipse">
            <a:avLst/>
          </a:prstGeom>
          <a:solidFill>
            <a:srgbClr val="1B9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12280" y="274320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Handles unanticipated paths better.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3218688"/>
            <a:ext cx="109728" cy="109728"/>
          </a:xfrm>
          <a:prstGeom prst="ellipse">
            <a:avLst/>
          </a:prstGeom>
          <a:solidFill>
            <a:srgbClr val="1B9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12280" y="315468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No single source of truth for what happened.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3630168"/>
            <a:ext cx="109728" cy="109728"/>
          </a:xfrm>
          <a:prstGeom prst="ellipse">
            <a:avLst/>
          </a:prstGeom>
          <a:solidFill>
            <a:srgbClr val="1B9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12280" y="356616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Harder to debug when things go wrong.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4041648"/>
            <a:ext cx="109728" cy="109728"/>
          </a:xfrm>
          <a:prstGeom prst="ellipse">
            <a:avLst/>
          </a:prstGeom>
          <a:solidFill>
            <a:srgbClr val="1B9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12280" y="3977639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Best for dynamic, branching workflows.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93776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1A1A1A"/>
                </a:solidFill>
                <a:latin typeface="Calibri"/>
              </a:rPr>
              <a:t>Use orchestration for well-shaped questions. Use choreography when the path branches unpredictably.</a:t>
            </a:r>
          </a:p>
        </p:txBody>
      </p:sp>
    </p:spTree>
    <p:extLst>
      <p:ext uri="{BB962C8B-B14F-4D97-AF65-F5344CB8AC3E}">
        <p14:creationId xmlns:p14="http://schemas.microsoft.com/office/powerpoint/2010/main" val="2019508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112471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D52E7E"/>
                </a:solidFill>
                <a:latin typeface="Calibri"/>
              </a:rPr>
              <a:t>DEMO 3  /  ~16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200" b="1" i="0">
                <a:solidFill>
                  <a:srgbClr val="1A1A1A"/>
                </a:solidFill>
                <a:latin typeface="Calibri"/>
              </a:rPr>
              <a:t>The Workforce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i="1">
                <a:solidFill>
                  <a:srgbClr val="666666"/>
                </a:solidFill>
                <a:latin typeface="Calibri"/>
              </a:rPr>
              <a:t>Three specialists. One conductor. Shared knowledge through MCP. The full architecture in motion.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D52E7E"/>
                </a:solidFill>
                <a:latin typeface="Calibri"/>
              </a:rPr>
              <a:t>WATCH FOR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3264408"/>
            <a:ext cx="164592" cy="164592"/>
          </a:xfrm>
          <a:prstGeom prst="ellipse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3200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The headline: 46.40% current, 84.40% projected, 85% threshold.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3721608"/>
            <a:ext cx="164592" cy="164592"/>
          </a:xfrm>
          <a:prstGeom prst="ellipse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3657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The split-shipment plan: 300 MAIN + 150 EAST today, 50 WEST in 3 days.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4178808"/>
            <a:ext cx="164592" cy="164592"/>
          </a:xfrm>
          <a:prstGeom prst="ellipse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41148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The curtain pull: MCP server code and SQL Server underneath.</a:t>
            </a:r>
          </a:p>
        </p:txBody>
      </p:sp>
    </p:spTree>
    <p:extLst>
      <p:ext uri="{BB962C8B-B14F-4D97-AF65-F5344CB8AC3E}">
        <p14:creationId xmlns:p14="http://schemas.microsoft.com/office/powerpoint/2010/main" val="3253722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74320"/>
            <a:ext cx="11457432" cy="4983480"/>
          </a:xfrm>
          <a:prstGeom prst="rect">
            <a:avLst/>
          </a:prstGeom>
          <a:solidFill>
            <a:srgbClr val="F7F5EE"/>
          </a:solidFill>
          <a:ln w="9525">
            <a:solidFill>
              <a:srgbClr val="D8D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666666"/>
                </a:solidFill>
                <a:latin typeface="Calibri"/>
              </a:rPr>
              <a:t>DEMO 3  /  IN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167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The full four-agent workforce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spc="200">
                <a:solidFill>
                  <a:srgbClr val="D52E7E"/>
                </a:solidFill>
                <a:latin typeface="Calibri"/>
              </a:rPr>
              <a:t>THE 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6949440" cy="3108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3108960"/>
          </a:xfrm>
          <a:prstGeom prst="rect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67512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onsolas"/>
              </a:rPr>
              <a:t>Adatum Corporation wants 500 units of</a:t>
            </a:r>
          </a:p>
          <a:p>
            <a:pPr algn="l"/>
            <a:r>
              <a:rPr sz="1400" b="0" i="0">
                <a:solidFill>
                  <a:srgbClr val="E2E8F0"/>
                </a:solidFill>
                <a:latin typeface="Consolas"/>
              </a:rPr>
              <a:t>1900-S PARIS Guest Chair, black,</a:t>
            </a:r>
          </a:p>
          <a:p>
            <a:pPr algn="l"/>
            <a:r>
              <a:rPr sz="1400" b="0" i="0">
                <a:solidFill>
                  <a:srgbClr val="E2E8F0"/>
                </a:solidFill>
                <a:latin typeface="Consolas"/>
              </a:rPr>
              <a:t>shipping next Friday,</a:t>
            </a:r>
          </a:p>
          <a:p>
            <a:pPr algn="l"/>
            <a:r>
              <a:rPr sz="1400" b="0" i="0">
                <a:solidFill>
                  <a:srgbClr val="E2E8F0"/>
                </a:solidFill>
                <a:latin typeface="Consolas"/>
              </a:rPr>
              <a:t>on their standard NET-30 terms.</a:t>
            </a:r>
          </a:p>
          <a:p>
            <a:pPr algn="l"/>
            <a:endParaRPr sz="1400" b="0" i="0">
              <a:solidFill>
                <a:srgbClr val="E2E8F0"/>
              </a:solidFill>
              <a:latin typeface="Consolas"/>
            </a:endParaRPr>
          </a:p>
          <a:p>
            <a:pPr algn="l"/>
            <a:r>
              <a:rPr sz="1400" b="0" i="0">
                <a:solidFill>
                  <a:srgbClr val="E2E8F0"/>
                </a:solidFill>
                <a:latin typeface="Consolas"/>
              </a:rPr>
              <a:t>Can we commit?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463040"/>
            <a:ext cx="368503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spc="200">
                <a:solidFill>
                  <a:srgbClr val="D52E7E"/>
                </a:solidFill>
                <a:latin typeface="Calibri"/>
              </a:rPr>
              <a:t>WATCH FOR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1828800"/>
            <a:ext cx="73152" cy="868680"/>
          </a:xfrm>
          <a:prstGeom prst="rect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1828800"/>
            <a:ext cx="3502151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Headline: 46.40% current, 84.40% projected, 85% threshold.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2834640"/>
            <a:ext cx="73152" cy="868680"/>
          </a:xfrm>
          <a:prstGeom prst="rect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0" y="2834640"/>
            <a:ext cx="3502151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Split-shipment plan: 300 MAIN + 150 EAST today, 50 WEST in 3 days.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3840480"/>
            <a:ext cx="73152" cy="868680"/>
          </a:xfrm>
          <a:prstGeom prst="rect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3840480"/>
            <a:ext cx="3502151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The curtain pull: MCP server, SSMS, and the local laptop.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394960"/>
            <a:ext cx="11457432" cy="4572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5394960"/>
            <a:ext cx="114574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1">
                <a:solidFill>
                  <a:srgbClr val="CCCCCC"/>
                </a:solidFill>
                <a:latin typeface="Calibri"/>
              </a:rPr>
              <a:t>If the agent stalls or hiccups, hold here. Reread the prompt out loud. Buy time.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D52E7E"/>
                </a:solidFill>
                <a:latin typeface="Calibri"/>
              </a:rPr>
              <a:t>DEMO 3  /  WRAP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11247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Three layers, each doing one job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508760"/>
            <a:ext cx="9418320" cy="960120"/>
          </a:xfrm>
          <a:prstGeom prst="rect">
            <a:avLst/>
          </a:prstGeom>
          <a:solidFill>
            <a:srgbClr val="F7F5EE"/>
          </a:solidFill>
          <a:ln w="9525">
            <a:solidFill>
              <a:srgbClr val="D8D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71600" y="1508760"/>
            <a:ext cx="164592" cy="960120"/>
          </a:xfrm>
          <a:prstGeom prst="rect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37360" y="1645919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spc="200">
                <a:solidFill>
                  <a:srgbClr val="D52E7E"/>
                </a:solidFill>
                <a:latin typeface="Calibri"/>
              </a:rPr>
              <a:t>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965960"/>
            <a:ext cx="8869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Order Conductor in Teams. Routes the question to specialists. Synthesizes the answer.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633472"/>
            <a:ext cx="9418320" cy="960120"/>
          </a:xfrm>
          <a:prstGeom prst="rect">
            <a:avLst/>
          </a:prstGeom>
          <a:solidFill>
            <a:srgbClr val="F7F5EE"/>
          </a:solidFill>
          <a:ln w="9525">
            <a:solidFill>
              <a:srgbClr val="D8D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2633472"/>
            <a:ext cx="164592" cy="960120"/>
          </a:xfrm>
          <a:prstGeom prst="rect">
            <a:avLst/>
          </a:prstGeom>
          <a:solidFill>
            <a:srgbClr val="1B9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37360" y="277063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spc="200">
                <a:solidFill>
                  <a:srgbClr val="1B95D2"/>
                </a:solidFill>
                <a:latin typeface="Calibri"/>
              </a:rPr>
              <a:t>SPECIALIZATION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090672"/>
            <a:ext cx="8869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Sales, Finance, Inventory in Copilot Studio. Each owns one domain. None speaks outside its lane.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758183"/>
            <a:ext cx="9418320" cy="960120"/>
          </a:xfrm>
          <a:prstGeom prst="rect">
            <a:avLst/>
          </a:prstGeom>
          <a:solidFill>
            <a:srgbClr val="F7F5EE"/>
          </a:solidFill>
          <a:ln w="9525">
            <a:solidFill>
              <a:srgbClr val="D8D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371600" y="3758183"/>
            <a:ext cx="164592" cy="960120"/>
          </a:xfrm>
          <a:prstGeom prst="rect">
            <a:avLst/>
          </a:prstGeom>
          <a:solidFill>
            <a:srgbClr val="6CA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737360" y="3895344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spc="200">
                <a:solidFill>
                  <a:srgbClr val="6CAE39"/>
                </a:solidFill>
                <a:latin typeface="Calibri"/>
              </a:rPr>
              <a:t>SHARED KNOWLEDGE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215383"/>
            <a:ext cx="8869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MCP server plus SQL Server. Typed tools, deterministic logic, single source of truth for the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0916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1">
                <a:solidFill>
                  <a:srgbClr val="1A1A1A"/>
                </a:solidFill>
                <a:latin typeface="Calibri"/>
              </a:rPr>
              <a:t>Keep the layers. The temptation to flatten is the most common failure mode in production.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D52E7E"/>
                </a:solidFill>
                <a:latin typeface="Calibri"/>
              </a:rPr>
              <a:t>BEAT 5  / 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11247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What we just demonstrated, in pattern 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5486400" cy="1463040"/>
          </a:xfrm>
          <a:prstGeom prst="rect">
            <a:avLst/>
          </a:prstGeom>
          <a:solidFill>
            <a:srgbClr val="F7F5EE"/>
          </a:solidFill>
          <a:ln w="9525">
            <a:solidFill>
              <a:srgbClr val="D8D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73152" cy="1463040"/>
          </a:xfrm>
          <a:prstGeom prst="rect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61848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Orchestrator-Worker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One conductor agent invokes many specialist agents. Synthesis happens centrally.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6032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1">
                <a:solidFill>
                  <a:srgbClr val="D52E7E"/>
                </a:solidFill>
                <a:latin typeface="Calibri"/>
              </a:rPr>
              <a:t>EXAMPLE: Order Conductor plus three specialists in our build.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08760"/>
            <a:ext cx="5486400" cy="1463040"/>
          </a:xfrm>
          <a:prstGeom prst="rect">
            <a:avLst/>
          </a:prstGeom>
          <a:solidFill>
            <a:srgbClr val="F7F5EE"/>
          </a:solidFill>
          <a:ln w="9525">
            <a:solidFill>
              <a:srgbClr val="D8D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508760"/>
            <a:ext cx="73152" cy="1463040"/>
          </a:xfrm>
          <a:prstGeom prst="rect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61848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Smart Tools, Simple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01168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Push business logic into typed MCP tools. Agents become invocation engines.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56032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1">
                <a:solidFill>
                  <a:srgbClr val="D52E7E"/>
                </a:solidFill>
                <a:latin typeface="Calibri"/>
              </a:rPr>
              <a:t>EXAMPLE: check_availability returns a plan, not raw stock numbers.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54680"/>
            <a:ext cx="5486400" cy="1463040"/>
          </a:xfrm>
          <a:prstGeom prst="rect">
            <a:avLst/>
          </a:prstGeom>
          <a:solidFill>
            <a:srgbClr val="F7F5EE"/>
          </a:solidFill>
          <a:ln w="9525">
            <a:solidFill>
              <a:srgbClr val="D8D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154680"/>
            <a:ext cx="73152" cy="1463040"/>
          </a:xfrm>
          <a:prstGeom prst="rect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326440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Tool Exclusivity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65760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Each specialist registers only the tools relevant to its domain. Discipline at the boundary.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2062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1">
                <a:solidFill>
                  <a:srgbClr val="D52E7E"/>
                </a:solidFill>
                <a:latin typeface="Calibri"/>
              </a:rPr>
              <a:t>EXAMPLE: Finance agent has 2 tools. Inventory agent has 2 tools. Zero overlap.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154680"/>
            <a:ext cx="5486400" cy="1463040"/>
          </a:xfrm>
          <a:prstGeom prst="rect">
            <a:avLst/>
          </a:prstGeom>
          <a:solidFill>
            <a:srgbClr val="F7F5EE"/>
          </a:solidFill>
          <a:ln w="9525">
            <a:solidFill>
              <a:srgbClr val="D8D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154680"/>
            <a:ext cx="73152" cy="1463040"/>
          </a:xfrm>
          <a:prstGeom prst="rect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9088" y="326440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Shared Knowledge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65760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All agents read from the same structured source. No copies, no drift.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42062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1">
                <a:solidFill>
                  <a:srgbClr val="D52E7E"/>
                </a:solidFill>
                <a:latin typeface="Calibri"/>
              </a:rPr>
              <a:t>EXAMPLE: Single SQL Server database. All four agents touch it through MCP.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D52E7E"/>
                </a:solidFill>
                <a:latin typeface="Calibri"/>
              </a:rPr>
              <a:t>BEAT 5  /  EXTENSIONS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11247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Your workforce is not limited to Microsoft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6126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Same architecture. Different brain.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61264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MCP and HTTP are the bridges. A specialist agent in Copilot Studio can delegate research, reasoning, or specialized work to any model that speaks those protocols. Claude. GPT. A locally-hosted open-weight model. A purpose-built service.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703320"/>
            <a:ext cx="1371600" cy="36576"/>
          </a:xfrm>
          <a:prstGeom prst="rect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6126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1A1A1A"/>
                </a:solidFill>
                <a:latin typeface="Calibri"/>
              </a:rPr>
              <a:t>The pattern is identical. The orchestrator does not care which model is on the other end of the tool. It cares that the tool is well-defined and the response is well-typed.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508760"/>
            <a:ext cx="4965192" cy="32004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00516" y="1691640"/>
            <a:ext cx="1097280" cy="548640"/>
          </a:xfrm>
          <a:prstGeom prst="ellipse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00516" y="1691640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Conductor</a:t>
            </a:r>
          </a:p>
        </p:txBody>
      </p:sp>
      <p:sp>
        <p:nvSpPr>
          <p:cNvPr id="11" name="Oval 10"/>
          <p:cNvSpPr/>
          <p:nvPr/>
        </p:nvSpPr>
        <p:spPr>
          <a:xfrm>
            <a:off x="7603236" y="2606040"/>
            <a:ext cx="914400" cy="4114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03236" y="260604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Calibri"/>
              </a:rPr>
              <a:t>Sales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8060436" y="2240280"/>
            <a:ext cx="1188720" cy="36576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791956" y="2606040"/>
            <a:ext cx="914400" cy="4114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91956" y="260604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Calibri"/>
              </a:rPr>
              <a:t>Finance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249156" y="2240280"/>
            <a:ext cx="0" cy="36576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980676" y="2606040"/>
            <a:ext cx="914400" cy="411480"/>
          </a:xfrm>
          <a:prstGeom prst="ellipse">
            <a:avLst/>
          </a:prstGeom>
          <a:solidFill>
            <a:srgbClr val="1B95D2"/>
          </a:solidFill>
          <a:ln w="9525">
            <a:solidFill>
              <a:srgbClr val="1B9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80676" y="260604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Research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49156" y="2240280"/>
            <a:ext cx="1188720" cy="36576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0268712" y="3566160"/>
            <a:ext cx="1280160" cy="502920"/>
          </a:xfrm>
          <a:prstGeom prst="rect">
            <a:avLst/>
          </a:prstGeom>
          <a:solidFill>
            <a:srgbClr val="1B95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68712" y="3566160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Claude</a:t>
            </a:r>
          </a:p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(via MCP)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437876" y="3017520"/>
            <a:ext cx="470916" cy="548640"/>
          </a:xfrm>
          <a:prstGeom prst="line">
            <a:avLst/>
          </a:prstGeom>
          <a:ln w="12700">
            <a:solidFill>
              <a:srgbClr val="1B95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040880" y="4251960"/>
            <a:ext cx="441655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1">
                <a:solidFill>
                  <a:srgbClr val="F7F5EE"/>
                </a:solidFill>
                <a:latin typeface="Calibri"/>
              </a:rPr>
              <a:t>A research specialist could delegate to Claude through MCP.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D52E7E"/>
                </a:solidFill>
                <a:latin typeface="Calibri"/>
              </a:rPr>
              <a:t>BEAT 5  / 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11247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What to think about before you 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5486400" cy="1463040"/>
          </a:xfrm>
          <a:prstGeom prst="rect">
            <a:avLst/>
          </a:prstGeom>
          <a:solidFill>
            <a:srgbClr val="FFFDF5"/>
          </a:solidFill>
          <a:ln w="9525">
            <a:solidFill>
              <a:srgbClr val="D8D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5486400" cy="3657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200">
                <a:solidFill>
                  <a:srgbClr val="F5C518"/>
                </a:solidFill>
                <a:latin typeface="Calibri"/>
              </a:rPr>
              <a:t>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51206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Who owns each agent. Who can change prompts. Who reviews tools and approves new ones. Multi-agent systems multiply the surface area you have to govern.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508760"/>
            <a:ext cx="5486400" cy="1463040"/>
          </a:xfrm>
          <a:prstGeom prst="rect">
            <a:avLst/>
          </a:prstGeom>
          <a:solidFill>
            <a:srgbClr val="FFFDF5"/>
          </a:solidFill>
          <a:ln w="9525">
            <a:solidFill>
              <a:srgbClr val="D8D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508760"/>
            <a:ext cx="5486400" cy="3657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5087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200">
                <a:solidFill>
                  <a:srgbClr val="F5C518"/>
                </a:solidFill>
                <a:latin typeface="Calibri"/>
              </a:rPr>
              <a:t>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80"/>
            <a:ext cx="51206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Every specialist call is a model call. Orchestrators multiply your calls. A four-agent run can cost 3 to 5 times a single-agent run. Budget accordingly.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54680"/>
            <a:ext cx="5486400" cy="1463040"/>
          </a:xfrm>
          <a:prstGeom prst="rect">
            <a:avLst/>
          </a:prstGeom>
          <a:solidFill>
            <a:srgbClr val="FFFDF5"/>
          </a:solidFill>
          <a:ln w="9525">
            <a:solidFill>
              <a:srgbClr val="D8D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3154680"/>
            <a:ext cx="5486400" cy="3657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15468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200">
                <a:solidFill>
                  <a:srgbClr val="F5C518"/>
                </a:solidFill>
                <a:latin typeface="Calibri"/>
              </a:rPr>
              <a:t>LATENCY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57600"/>
            <a:ext cx="51206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Specialists in series can double or triple response time. Design for parallel where the questions are independent. Teams users abandon at 8 seconds.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154680"/>
            <a:ext cx="5486400" cy="1463040"/>
          </a:xfrm>
          <a:prstGeom prst="rect">
            <a:avLst/>
          </a:prstGeom>
          <a:solidFill>
            <a:srgbClr val="FFFDF5"/>
          </a:solidFill>
          <a:ln w="9525">
            <a:solidFill>
              <a:srgbClr val="D8D4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3154680"/>
            <a:ext cx="5486400" cy="3657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315468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200">
                <a:solidFill>
                  <a:srgbClr val="F5C518"/>
                </a:solidFill>
                <a:latin typeface="Calibri"/>
              </a:rPr>
              <a:t>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657600"/>
            <a:ext cx="51206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When a recommendation produces a bad business outcome, can you reconstruct which specialist returned what? Copilot Studio's tracing helps. Turn it 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112471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D52E7E"/>
                </a:solidFill>
                <a:latin typeface="Calibri"/>
              </a:rPr>
              <a:t>THE MINDSET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08760"/>
            <a:ext cx="11247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0" i="1">
                <a:solidFill>
                  <a:srgbClr val="666666"/>
                </a:solidFill>
                <a:latin typeface="Calibri"/>
              </a:rPr>
              <a:t>You are not writing code that solves problems.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112471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Calibri"/>
              </a:rPr>
              <a:t>You are conducting agents that solve problems.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429000"/>
            <a:ext cx="1828800" cy="45720"/>
          </a:xfrm>
          <a:prstGeom prst="rect">
            <a:avLst/>
          </a:prstGeom>
          <a:solidFill>
            <a:srgbClr val="D52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611880"/>
            <a:ext cx="112471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The hardest skill is no longer writing the function. It is deciding which agent gets called when, with what context, and reviewing what they hand back. That is conducting.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D52E7E"/>
                </a:solidFill>
                <a:latin typeface="Calibri"/>
              </a:rPr>
              <a:t>THE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04088"/>
            <a:ext cx="11247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Monday morning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640080" cy="6858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6400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508760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Build one agent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837943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Single agent. Real tools. Real data. Ship it internally and watch where it fails consistently.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13432"/>
            <a:ext cx="640080" cy="6858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313432"/>
            <a:ext cx="6400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13432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Find a clean failure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642615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If the failures cluster around one type of question, that is your first specialist. Split along the failure line, not along your org chart.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18104"/>
            <a:ext cx="640080" cy="6858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118104"/>
            <a:ext cx="6400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118104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Add an MCP server before the second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47288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Shared knowledge through typed tools is what makes multi-agent maintainable. Get this layer right before you split agents.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22776"/>
            <a:ext cx="640080" cy="6858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922776"/>
            <a:ext cx="6400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922776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Resist the temptation to flatten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25196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Keep the three layers. Push business logic into MCP tools. Keep specialists in their lanes. Let the orchestrator orchestrate.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spc="300">
                <a:solidFill>
                  <a:srgbClr val="F5C518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400" b="1" i="0">
                <a:solidFill>
                  <a:srgbClr val="FDFBF0"/>
                </a:solidFill>
                <a:latin typeface="Calibri"/>
              </a:rPr>
              <a:t>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544068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spc="200">
                <a:solidFill>
                  <a:srgbClr val="F5C518"/>
                </a:solidFill>
                <a:latin typeface="Calibri"/>
              </a:rPr>
              <a:t>RESOURCES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60720"/>
            <a:ext cx="112471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 dirty="0">
                <a:solidFill>
                  <a:srgbClr val="F7F5EE"/>
                </a:solidFill>
                <a:latin typeface="Calibri"/>
              </a:rPr>
              <a:t>Session code, MCP server, agent specs, demos: </a:t>
            </a:r>
            <a:r>
              <a:rPr lang="en-US" sz="1200" dirty="0">
                <a:solidFill>
                  <a:srgbClr val="F7F5EE"/>
                </a:solidFill>
                <a:latin typeface="Calibri"/>
                <a:hlinkClick r:id="rId3"/>
              </a:rPr>
              <a:t>https://github.com/dgpblogster/dynamicscon26</a:t>
            </a:r>
            <a:r>
              <a:rPr lang="en-US" sz="1200" dirty="0">
                <a:solidFill>
                  <a:srgbClr val="F7F5EE"/>
                </a:solidFill>
                <a:latin typeface="Calibri"/>
              </a:rPr>
              <a:t> </a:t>
            </a:r>
            <a:endParaRPr sz="1200" b="0" i="0" dirty="0">
              <a:solidFill>
                <a:srgbClr val="F7F5EE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112471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 dirty="0">
                <a:solidFill>
                  <a:srgbClr val="F7F5EE"/>
                </a:solidFill>
                <a:latin typeface="Calibri"/>
              </a:rPr>
              <a:t>Connect: </a:t>
            </a:r>
            <a:r>
              <a:rPr lang="en-US" sz="1200" dirty="0">
                <a:solidFill>
                  <a:srgbClr val="F7F5EE"/>
                </a:solidFill>
                <a:latin typeface="Calibri"/>
                <a:hlinkClick r:id="rId4"/>
              </a:rPr>
              <a:t>https://www.linkedin.com/in/marianogomezbent/</a:t>
            </a:r>
            <a:r>
              <a:rPr lang="en-US" sz="1200" dirty="0">
                <a:solidFill>
                  <a:srgbClr val="F7F5EE"/>
                </a:solidFill>
                <a:latin typeface="Calibri"/>
              </a:rPr>
              <a:t> </a:t>
            </a:r>
            <a:endParaRPr sz="1200" b="0" i="0" dirty="0">
              <a:solidFill>
                <a:srgbClr val="F7F5EE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6400800"/>
            <a:ext cx="1371600" cy="36576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 dirty="0">
                <a:solidFill>
                  <a:srgbClr val="FDFBF0"/>
                </a:solidFill>
                <a:latin typeface="Calibri"/>
              </a:rPr>
              <a:t>Mariano Gomez</a:t>
            </a:r>
            <a:r>
              <a:rPr lang="en-US" sz="1000" b="0" i="0" dirty="0">
                <a:solidFill>
                  <a:srgbClr val="FDFBF0"/>
                </a:solidFill>
                <a:latin typeface="Calibri"/>
              </a:rPr>
              <a:t> Bent</a:t>
            </a:r>
            <a:r>
              <a:rPr sz="1000" b="0" i="0" dirty="0">
                <a:solidFill>
                  <a:srgbClr val="FDFBF0"/>
                </a:solidFill>
                <a:latin typeface="Calibri"/>
              </a:rPr>
              <a:t>  /  </a:t>
            </a:r>
            <a:r>
              <a:rPr lang="en-US" sz="1000" b="0" i="0" dirty="0">
                <a:solidFill>
                  <a:srgbClr val="FDFBF0"/>
                </a:solidFill>
                <a:latin typeface="Calibri"/>
              </a:rPr>
              <a:t>Chief Technology Officer @ Mekorma, Inc. / Former Microsoft Business Applications MVP (16x)</a:t>
            </a:r>
            <a:endParaRPr sz="1000" b="0" i="0" dirty="0">
              <a:solidFill>
                <a:srgbClr val="FDFBF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9388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18ec24c-f428-4057-9a36-4cb948a7b407">
      <Terms xmlns="http://schemas.microsoft.com/office/infopath/2007/PartnerControls"/>
    </lcf76f155ced4ddcb4097134ff3c332f>
    <TaxCatchAll xmlns="6fe25bdf-ae0e-48a7-b6e5-bc8a1849b98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0EFDC198DA1424AA2DE7340ED8C291E" ma:contentTypeVersion="20" ma:contentTypeDescription="Create a new document." ma:contentTypeScope="" ma:versionID="e17e278717a8b3a9d1b0341905e9f118">
  <xsd:schema xmlns:xsd="http://www.w3.org/2001/XMLSchema" xmlns:xs="http://www.w3.org/2001/XMLSchema" xmlns:p="http://schemas.microsoft.com/office/2006/metadata/properties" xmlns:ns2="6fe25bdf-ae0e-48a7-b6e5-bc8a1849b98e" xmlns:ns3="518ec24c-f428-4057-9a36-4cb948a7b407" targetNamespace="http://schemas.microsoft.com/office/2006/metadata/properties" ma:root="true" ma:fieldsID="64d06730524467017972f768cafcd2f5" ns2:_="" ns3:_="">
    <xsd:import namespace="6fe25bdf-ae0e-48a7-b6e5-bc8a1849b98e"/>
    <xsd:import namespace="518ec24c-f428-4057-9a36-4cb948a7b40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e25bdf-ae0e-48a7-b6e5-bc8a1849b98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4419aa8-21d6-4bea-8eac-28a8efdd9d04}" ma:internalName="TaxCatchAll" ma:showField="CatchAllData" ma:web="6fe25bdf-ae0e-48a7-b6e5-bc8a1849b9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8ec24c-f428-4057-9a36-4cb948a7b4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37c3b37-2320-48ce-b319-ec387555f3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97B75BE-6E85-4BC9-B65E-BA5D0420B3C8}">
  <ds:schemaRefs>
    <ds:schemaRef ds:uri="518ec24c-f428-4057-9a36-4cb948a7b407"/>
    <ds:schemaRef ds:uri="6fe25bdf-ae0e-48a7-b6e5-bc8a1849b98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CCC9168-1AF7-4F22-A7E1-AA5CA9871E6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D04DCF2-D9D4-4703-8D0D-9BA35C49A00B}">
  <ds:schemaRefs>
    <ds:schemaRef ds:uri="518ec24c-f428-4057-9a36-4cb948a7b407"/>
    <ds:schemaRef ds:uri="6fe25bdf-ae0e-48a7-b6e5-bc8a1849b98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1263</TotalTime>
  <Words>3021</Words>
  <Application>Microsoft Office PowerPoint</Application>
  <PresentationFormat>Widescreen</PresentationFormat>
  <Paragraphs>338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Aptos</vt:lpstr>
      <vt:lpstr>Aptos Display</vt:lpstr>
      <vt:lpstr>Arial</vt:lpstr>
      <vt:lpstr>Calibri</vt:lpstr>
      <vt:lpstr>Consolas</vt:lpstr>
      <vt:lpstr>Open Sans ExtraBold</vt:lpstr>
      <vt:lpstr>Open Sans Light</vt:lpstr>
      <vt:lpstr>Open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Lauren Bishop</dc:creator>
  <cp:lastModifiedBy>Mariano Gomez</cp:lastModifiedBy>
  <cp:revision>18</cp:revision>
  <dcterms:created xsi:type="dcterms:W3CDTF">2025-01-23T18:40:19Z</dcterms:created>
  <dcterms:modified xsi:type="dcterms:W3CDTF">2026-05-13T07:42:40Z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0x01010040EFDC198DA1424AA2DE7340ED8C291E</vt:lpwstr>
  </property>
  <property fmtid="{D5CDD505-2E9C-101B-9397-08002B2CF9AE}" pid="3" name="MediaServiceImageTags">
    <vt:lpwstr/>
  </property>
</Properties>
</file>